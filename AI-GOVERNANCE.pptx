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23187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29264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23187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29264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23187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23187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AFAF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4" y="2174525"/>
            <a:ext cx="5224780" cy="47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23187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374" y="2455703"/>
            <a:ext cx="5876290" cy="2616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29264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hyperlink" Target="https://gamma.app/?utm_source=made-with-gamma" TargetMode="External"/><Relationship Id="rId8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0"/>
            <a:ext cx="4286250" cy="6438900"/>
            <a:chOff x="7143750" y="0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49" cy="6438899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5" y="5926073"/>
              <a:ext cx="1754504" cy="4191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25928" y="2495549"/>
            <a:ext cx="234950" cy="266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81526" y="2495549"/>
            <a:ext cx="234950" cy="266700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87374" y="2374550"/>
            <a:ext cx="3159760" cy="475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96135" algn="l"/>
                <a:tab pos="2651760" algn="l"/>
              </a:tabLst>
            </a:pPr>
            <a:r>
              <a:rPr dirty="0" spc="-204"/>
              <a:t>AI</a:t>
            </a:r>
            <a:r>
              <a:rPr dirty="0" spc="-305"/>
              <a:t> </a:t>
            </a:r>
            <a:r>
              <a:rPr dirty="0" spc="-20"/>
              <a:t>GOVER</a:t>
            </a:r>
            <a:r>
              <a:rPr dirty="0"/>
              <a:t>	</a:t>
            </a:r>
            <a:r>
              <a:rPr dirty="0" spc="110"/>
              <a:t>A</a:t>
            </a:r>
            <a:r>
              <a:rPr dirty="0"/>
              <a:t>	</a:t>
            </a:r>
            <a:r>
              <a:rPr dirty="0" spc="-25"/>
              <a:t>CE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7374" y="3036728"/>
            <a:ext cx="5921375" cy="98742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37700"/>
              </a:lnSpc>
              <a:spcBef>
                <a:spcPts val="65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Secure,</a:t>
            </a:r>
            <a:r>
              <a:rPr dirty="0" sz="1150" spc="10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Responsible</a:t>
            </a:r>
            <a:r>
              <a:rPr dirty="0" sz="1150" spc="10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150" spc="10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Productive</a:t>
            </a:r>
            <a:r>
              <a:rPr dirty="0" sz="1150" spc="10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Use</a:t>
            </a:r>
            <a:r>
              <a:rPr dirty="0" sz="1150" spc="10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of</a:t>
            </a:r>
            <a:r>
              <a:rPr dirty="0" sz="1150" spc="2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Artificial</a:t>
            </a:r>
            <a:r>
              <a:rPr dirty="0" sz="1150" spc="10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Intelligence</a:t>
            </a:r>
            <a:r>
              <a:rPr dirty="0" sz="1150" spc="10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—</a:t>
            </a:r>
            <a:r>
              <a:rPr dirty="0" sz="1150" spc="10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Professional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Training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&amp;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Implementation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Guide.</a:t>
            </a:r>
            <a:r>
              <a:rPr dirty="0" sz="1150" spc="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Version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1.1</a:t>
            </a:r>
            <a:r>
              <a:rPr dirty="0" sz="1150" spc="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|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September</a:t>
            </a:r>
            <a:r>
              <a:rPr dirty="0" sz="1150" spc="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2026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|</a:t>
            </a:r>
            <a:r>
              <a:rPr dirty="0" sz="1150" spc="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Internal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Use.</a:t>
            </a:r>
            <a:r>
              <a:rPr dirty="0" sz="1150" spc="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This</a:t>
            </a:r>
            <a:r>
              <a:rPr dirty="0" sz="1150" spc="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guide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provides</a:t>
            </a:r>
            <a:r>
              <a:rPr dirty="0" sz="1150" spc="7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practical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framework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to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maximize</a:t>
            </a:r>
            <a:r>
              <a:rPr dirty="0" sz="11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AI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value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while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protecting</a:t>
            </a:r>
            <a:r>
              <a:rPr dirty="0" sz="1150" spc="7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data,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people,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customers</a:t>
            </a:r>
            <a:r>
              <a:rPr dirty="0" sz="1150" spc="7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150" spc="7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the</a:t>
            </a:r>
            <a:r>
              <a:rPr dirty="0" sz="1150" spc="7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organization.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Document</a:t>
            </a:r>
            <a:r>
              <a:rPr dirty="0" spc="-270"/>
              <a:t> </a:t>
            </a:r>
            <a:r>
              <a:rPr dirty="0" spc="-85"/>
              <a:t>Control</a:t>
            </a:r>
            <a:r>
              <a:rPr dirty="0" spc="-270"/>
              <a:t> </a:t>
            </a:r>
            <a:r>
              <a:rPr dirty="0" spc="-254"/>
              <a:t>&amp;</a:t>
            </a:r>
            <a:r>
              <a:rPr dirty="0" spc="-480"/>
              <a:t> </a:t>
            </a:r>
            <a:r>
              <a:rPr dirty="0" spc="-80"/>
              <a:t>Audience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2962274"/>
            <a:ext cx="952499" cy="590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27398" y="2943098"/>
            <a:ext cx="1854200" cy="1281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10" b="1">
                <a:solidFill>
                  <a:srgbClr val="292641"/>
                </a:solidFill>
                <a:latin typeface="Tahoma"/>
                <a:cs typeface="Tahoma"/>
              </a:rPr>
              <a:t>Audience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7700"/>
              </a:lnSpc>
              <a:spcBef>
                <a:spcPts val="515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Executives,</a:t>
            </a:r>
            <a:r>
              <a:rPr dirty="0" sz="1150" spc="114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managers,</a:t>
            </a:r>
            <a:r>
              <a:rPr dirty="0" sz="1150" spc="12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292641"/>
                </a:solidFill>
                <a:latin typeface="Arial MT"/>
                <a:cs typeface="Arial MT"/>
              </a:rPr>
              <a:t>IT,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security,</a:t>
            </a:r>
            <a:r>
              <a:rPr dirty="0" sz="1150" spc="2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privacy,</a:t>
            </a:r>
            <a:r>
              <a:rPr dirty="0" sz="1150" spc="2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legal,</a:t>
            </a:r>
            <a:r>
              <a:rPr dirty="0" sz="1150" spc="2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292641"/>
                </a:solidFill>
                <a:latin typeface="Arial MT"/>
                <a:cs typeface="Arial MT"/>
              </a:rPr>
              <a:t>data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teams,</a:t>
            </a:r>
            <a:r>
              <a:rPr dirty="0" sz="1150" spc="10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procurement</a:t>
            </a:r>
            <a:r>
              <a:rPr dirty="0" sz="1150" spc="10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292641"/>
                </a:solidFill>
                <a:latin typeface="Arial MT"/>
                <a:cs typeface="Arial MT"/>
              </a:rPr>
              <a:t>and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employees.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6699" y="2962274"/>
            <a:ext cx="952499" cy="5905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199855" y="2943098"/>
            <a:ext cx="1851660" cy="10337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80" b="1">
                <a:solidFill>
                  <a:srgbClr val="292641"/>
                </a:solidFill>
                <a:latin typeface="Tahoma"/>
                <a:cs typeface="Tahoma"/>
              </a:rPr>
              <a:t>Review</a:t>
            </a:r>
            <a:r>
              <a:rPr dirty="0" sz="1450" spc="-114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20" b="1">
                <a:solidFill>
                  <a:srgbClr val="292641"/>
                </a:solidFill>
                <a:latin typeface="Tahoma"/>
                <a:cs typeface="Tahoma"/>
              </a:rPr>
              <a:t>Cycle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Quarterly</a:t>
            </a:r>
            <a:r>
              <a:rPr dirty="0" sz="1150" spc="7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150" spc="7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after</a:t>
            </a:r>
            <a:r>
              <a:rPr dirty="0" sz="1150" spc="7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material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regulatory,</a:t>
            </a:r>
            <a:r>
              <a:rPr dirty="0" sz="1150" spc="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technology</a:t>
            </a:r>
            <a:r>
              <a:rPr dirty="0" sz="1150" spc="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292641"/>
                </a:solidFill>
                <a:latin typeface="Arial MT"/>
                <a:cs typeface="Arial MT"/>
              </a:rPr>
              <a:t>or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business</a:t>
            </a:r>
            <a:r>
              <a:rPr dirty="0" sz="1150" spc="1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changes.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3799" y="2962274"/>
            <a:ext cx="952499" cy="5905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672314" y="2943098"/>
            <a:ext cx="2143760" cy="1281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60" b="1">
                <a:solidFill>
                  <a:srgbClr val="292641"/>
                </a:solidFill>
                <a:latin typeface="Tahoma"/>
                <a:cs typeface="Tahoma"/>
              </a:rPr>
              <a:t>Document</a:t>
            </a:r>
            <a:r>
              <a:rPr dirty="0" sz="1450" spc="-13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20" b="1">
                <a:solidFill>
                  <a:srgbClr val="292641"/>
                </a:solidFill>
                <a:latin typeface="Tahoma"/>
                <a:cs typeface="Tahoma"/>
              </a:rPr>
              <a:t>Title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7700"/>
              </a:lnSpc>
              <a:spcBef>
                <a:spcPts val="515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AI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Governance: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Secure,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Responsible</a:t>
            </a:r>
            <a:r>
              <a:rPr dirty="0" sz="1150" spc="12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150" spc="1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Productive</a:t>
            </a:r>
            <a:r>
              <a:rPr dirty="0" sz="1150" spc="50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Use</a:t>
            </a:r>
            <a:r>
              <a:rPr dirty="0" sz="1150" spc="5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of</a:t>
            </a:r>
            <a:r>
              <a:rPr dirty="0" sz="1150" spc="-2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AI</a:t>
            </a:r>
            <a:r>
              <a:rPr dirty="0" sz="1150" spc="5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—</a:t>
            </a:r>
            <a:r>
              <a:rPr dirty="0" sz="1150" spc="5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purpose</a:t>
            </a:r>
            <a:r>
              <a:rPr dirty="0" sz="1150" spc="5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150" spc="5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scope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documented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for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internal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292641"/>
                </a:solidFill>
                <a:latin typeface="Arial MT"/>
                <a:cs typeface="Arial MT"/>
              </a:rPr>
              <a:t>use.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9" name="object 9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0"/>
            <a:ext cx="4286250" cy="6438900"/>
            <a:chOff x="7143750" y="0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49" cy="6438899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5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Executive</a:t>
            </a:r>
            <a:r>
              <a:rPr dirty="0" spc="-240"/>
              <a:t> </a:t>
            </a:r>
            <a:r>
              <a:rPr dirty="0" spc="-110"/>
              <a:t>Summary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374" y="2798603"/>
            <a:ext cx="5912485" cy="146367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37000"/>
              </a:lnSpc>
              <a:spcBef>
                <a:spcPts val="75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AI</a:t>
            </a:r>
            <a:r>
              <a:rPr dirty="0" sz="1150" spc="8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can</a:t>
            </a:r>
            <a:r>
              <a:rPr dirty="0" sz="1150" spc="8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accelerate</a:t>
            </a:r>
            <a:r>
              <a:rPr dirty="0" sz="1150" spc="8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productivity,</a:t>
            </a:r>
            <a:r>
              <a:rPr dirty="0" sz="1150" spc="8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improve</a:t>
            </a:r>
            <a:r>
              <a:rPr dirty="0" sz="1150" spc="9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customer</a:t>
            </a:r>
            <a:r>
              <a:rPr dirty="0" sz="1150" spc="8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experiences,</a:t>
            </a:r>
            <a:r>
              <a:rPr dirty="0" sz="1150" spc="8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strengthen</a:t>
            </a:r>
            <a:r>
              <a:rPr dirty="0" sz="1150" spc="8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analysis</a:t>
            </a:r>
            <a:r>
              <a:rPr dirty="0" sz="1150" spc="9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292641"/>
                </a:solidFill>
                <a:latin typeface="Arial MT"/>
                <a:cs typeface="Arial MT"/>
              </a:rPr>
              <a:t>and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automate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routine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work</a:t>
            </a:r>
            <a:r>
              <a:rPr dirty="0" sz="1150" spc="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—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but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it</a:t>
            </a:r>
            <a:r>
              <a:rPr dirty="0" sz="1150" spc="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also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creates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material</a:t>
            </a:r>
            <a:r>
              <a:rPr dirty="0" sz="1150" spc="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risks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when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data</a:t>
            </a:r>
            <a:r>
              <a:rPr dirty="0" sz="1150" spc="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is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exposed,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outputs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are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unreliable,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decisions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are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biased,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or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unapproved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tools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are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used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without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oversight. </a:t>
            </a:r>
            <a:r>
              <a:rPr dirty="0" sz="1150" spc="-25">
                <a:solidFill>
                  <a:srgbClr val="292641"/>
                </a:solidFill>
                <a:latin typeface="Arial MT"/>
                <a:cs typeface="Arial MT"/>
              </a:rPr>
              <a:t>AI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governance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is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the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operating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system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that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enables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safe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scale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by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combining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policy,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accountability,</a:t>
            </a:r>
            <a:r>
              <a:rPr dirty="0" sz="1150" spc="9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security</a:t>
            </a:r>
            <a:r>
              <a:rPr dirty="0" sz="1150" spc="10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architecture,</a:t>
            </a:r>
            <a:r>
              <a:rPr dirty="0" sz="1150" spc="10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privacy</a:t>
            </a:r>
            <a:r>
              <a:rPr dirty="0" sz="1150" spc="10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controls,</a:t>
            </a:r>
            <a:r>
              <a:rPr dirty="0" sz="1150" spc="9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technical</a:t>
            </a:r>
            <a:r>
              <a:rPr dirty="0" sz="1150" spc="10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guardrails,</a:t>
            </a:r>
            <a:r>
              <a:rPr dirty="0" sz="1150" spc="10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human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oversight</a:t>
            </a:r>
            <a:r>
              <a:rPr dirty="0" sz="1150" spc="7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continuous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monitoring</a:t>
            </a:r>
            <a:r>
              <a:rPr dirty="0" sz="1150" spc="7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across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the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full</a:t>
            </a:r>
            <a:r>
              <a:rPr dirty="0" sz="11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AI</a:t>
            </a:r>
            <a:r>
              <a:rPr dirty="0" sz="1150" spc="7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lifecycle.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4" y="1507775"/>
            <a:ext cx="3536315" cy="475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Learning</a:t>
            </a:r>
            <a:r>
              <a:rPr dirty="0" spc="-254"/>
              <a:t> </a:t>
            </a:r>
            <a:r>
              <a:rPr dirty="0" spc="-80"/>
              <a:t>Objectives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4" y="2285999"/>
            <a:ext cx="2447925" cy="1600200"/>
            <a:chOff x="600074" y="2285999"/>
            <a:chExt cx="2447925" cy="1600200"/>
          </a:xfrm>
        </p:grpSpPr>
        <p:sp>
          <p:nvSpPr>
            <p:cNvPr id="4" name="object 4"/>
            <p:cNvSpPr/>
            <p:nvPr/>
          </p:nvSpPr>
          <p:spPr>
            <a:xfrm>
              <a:off x="604837" y="2290762"/>
              <a:ext cx="2438400" cy="1590675"/>
            </a:xfrm>
            <a:custGeom>
              <a:avLst/>
              <a:gdLst/>
              <a:ahLst/>
              <a:cxnLst/>
              <a:rect l="l" t="t" r="r" b="b"/>
              <a:pathLst>
                <a:path w="2438400" h="1590675">
                  <a:moveTo>
                    <a:pt x="2396986" y="1590674"/>
                  </a:moveTo>
                  <a:lnTo>
                    <a:pt x="41412" y="1590674"/>
                  </a:lnTo>
                  <a:lnTo>
                    <a:pt x="35322" y="1589463"/>
                  </a:lnTo>
                  <a:lnTo>
                    <a:pt x="1211" y="1555351"/>
                  </a:lnTo>
                  <a:lnTo>
                    <a:pt x="0" y="1549261"/>
                  </a:lnTo>
                  <a:lnTo>
                    <a:pt x="0" y="1542930"/>
                  </a:lnTo>
                  <a:lnTo>
                    <a:pt x="0" y="41412"/>
                  </a:lnTo>
                  <a:lnTo>
                    <a:pt x="23623" y="6056"/>
                  </a:lnTo>
                  <a:lnTo>
                    <a:pt x="41412" y="0"/>
                  </a:lnTo>
                  <a:lnTo>
                    <a:pt x="2396986" y="0"/>
                  </a:lnTo>
                  <a:lnTo>
                    <a:pt x="2432342" y="23623"/>
                  </a:lnTo>
                  <a:lnTo>
                    <a:pt x="2438399" y="41412"/>
                  </a:lnTo>
                  <a:lnTo>
                    <a:pt x="2438399" y="1549261"/>
                  </a:lnTo>
                  <a:lnTo>
                    <a:pt x="2414775" y="1584617"/>
                  </a:lnTo>
                  <a:lnTo>
                    <a:pt x="2403076" y="1589463"/>
                  </a:lnTo>
                  <a:lnTo>
                    <a:pt x="2396986" y="1590674"/>
                  </a:lnTo>
                  <a:close/>
                </a:path>
              </a:pathLst>
            </a:custGeom>
            <a:solidFill>
              <a:srgbClr val="E8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04837" y="2290762"/>
              <a:ext cx="2438400" cy="1590675"/>
            </a:xfrm>
            <a:custGeom>
              <a:avLst/>
              <a:gdLst/>
              <a:ahLst/>
              <a:cxnLst/>
              <a:rect l="l" t="t" r="r" b="b"/>
              <a:pathLst>
                <a:path w="2438400" h="1590675">
                  <a:moveTo>
                    <a:pt x="0" y="1542930"/>
                  </a:moveTo>
                  <a:lnTo>
                    <a:pt x="0" y="47744"/>
                  </a:lnTo>
                  <a:lnTo>
                    <a:pt x="0" y="41412"/>
                  </a:lnTo>
                  <a:lnTo>
                    <a:pt x="1211" y="35322"/>
                  </a:lnTo>
                  <a:lnTo>
                    <a:pt x="3634" y="29472"/>
                  </a:lnTo>
                  <a:lnTo>
                    <a:pt x="6057" y="23623"/>
                  </a:lnTo>
                  <a:lnTo>
                    <a:pt x="9506" y="18460"/>
                  </a:lnTo>
                  <a:lnTo>
                    <a:pt x="13983" y="13983"/>
                  </a:lnTo>
                  <a:lnTo>
                    <a:pt x="18460" y="9506"/>
                  </a:lnTo>
                  <a:lnTo>
                    <a:pt x="23623" y="6056"/>
                  </a:lnTo>
                  <a:lnTo>
                    <a:pt x="29473" y="3634"/>
                  </a:lnTo>
                  <a:lnTo>
                    <a:pt x="35322" y="1211"/>
                  </a:lnTo>
                  <a:lnTo>
                    <a:pt x="41412" y="0"/>
                  </a:lnTo>
                  <a:lnTo>
                    <a:pt x="47744" y="0"/>
                  </a:lnTo>
                  <a:lnTo>
                    <a:pt x="2390655" y="0"/>
                  </a:lnTo>
                  <a:lnTo>
                    <a:pt x="2396986" y="0"/>
                  </a:lnTo>
                  <a:lnTo>
                    <a:pt x="2403076" y="1211"/>
                  </a:lnTo>
                  <a:lnTo>
                    <a:pt x="2408926" y="3634"/>
                  </a:lnTo>
                  <a:lnTo>
                    <a:pt x="2414775" y="6056"/>
                  </a:lnTo>
                  <a:lnTo>
                    <a:pt x="2419939" y="9506"/>
                  </a:lnTo>
                  <a:lnTo>
                    <a:pt x="2424415" y="13983"/>
                  </a:lnTo>
                  <a:lnTo>
                    <a:pt x="2428892" y="18460"/>
                  </a:lnTo>
                  <a:lnTo>
                    <a:pt x="2432342" y="23623"/>
                  </a:lnTo>
                  <a:lnTo>
                    <a:pt x="2434765" y="29472"/>
                  </a:lnTo>
                  <a:lnTo>
                    <a:pt x="2437187" y="35322"/>
                  </a:lnTo>
                  <a:lnTo>
                    <a:pt x="2438399" y="41412"/>
                  </a:lnTo>
                  <a:lnTo>
                    <a:pt x="2438399" y="47744"/>
                  </a:lnTo>
                  <a:lnTo>
                    <a:pt x="2438399" y="1542930"/>
                  </a:lnTo>
                  <a:lnTo>
                    <a:pt x="2419938" y="1581167"/>
                  </a:lnTo>
                  <a:lnTo>
                    <a:pt x="2390655" y="1590674"/>
                  </a:lnTo>
                  <a:lnTo>
                    <a:pt x="47744" y="1590674"/>
                  </a:lnTo>
                  <a:lnTo>
                    <a:pt x="9507" y="1572213"/>
                  </a:lnTo>
                  <a:lnTo>
                    <a:pt x="0" y="1549261"/>
                  </a:lnTo>
                  <a:lnTo>
                    <a:pt x="0" y="1542930"/>
                  </a:lnTo>
                  <a:close/>
                </a:path>
              </a:pathLst>
            </a:custGeom>
            <a:ln w="9524">
              <a:solidFill>
                <a:srgbClr val="BDB8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46918" y="2415565"/>
            <a:ext cx="1902460" cy="1285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0960">
              <a:lnSpc>
                <a:spcPct val="107800"/>
              </a:lnSpc>
              <a:spcBef>
                <a:spcPts val="95"/>
              </a:spcBef>
            </a:pPr>
            <a:r>
              <a:rPr dirty="0" sz="1450" spc="-55" b="1">
                <a:solidFill>
                  <a:srgbClr val="292641"/>
                </a:solidFill>
                <a:latin typeface="Tahoma"/>
                <a:cs typeface="Tahoma"/>
              </a:rPr>
              <a:t>Purpose</a:t>
            </a:r>
            <a:r>
              <a:rPr dirty="0" sz="1450" spc="-12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120" b="1">
                <a:solidFill>
                  <a:srgbClr val="292641"/>
                </a:solidFill>
                <a:latin typeface="Tahoma"/>
                <a:cs typeface="Tahoma"/>
              </a:rPr>
              <a:t>&amp;</a:t>
            </a:r>
            <a:r>
              <a:rPr dirty="0" sz="1450" spc="-19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10" b="1">
                <a:solidFill>
                  <a:srgbClr val="292641"/>
                </a:solidFill>
                <a:latin typeface="Tahoma"/>
                <a:cs typeface="Tahoma"/>
              </a:rPr>
              <a:t>Operating Model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5900"/>
              </a:lnSpc>
              <a:spcBef>
                <a:spcPts val="535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Understand</a:t>
            </a:r>
            <a:r>
              <a:rPr dirty="0" sz="1150" spc="9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what</a:t>
            </a:r>
            <a:r>
              <a:rPr dirty="0" sz="1150" spc="1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292641"/>
                </a:solidFill>
                <a:latin typeface="Arial MT"/>
                <a:cs typeface="Arial MT"/>
              </a:rPr>
              <a:t>AI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governance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does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how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292641"/>
                </a:solidFill>
                <a:latin typeface="Arial MT"/>
                <a:cs typeface="Arial MT"/>
              </a:rPr>
              <a:t>it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operates.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90874" y="2285999"/>
            <a:ext cx="2447925" cy="1600200"/>
            <a:chOff x="3190874" y="2285999"/>
            <a:chExt cx="2447925" cy="1600200"/>
          </a:xfrm>
        </p:grpSpPr>
        <p:sp>
          <p:nvSpPr>
            <p:cNvPr id="8" name="object 8"/>
            <p:cNvSpPr/>
            <p:nvPr/>
          </p:nvSpPr>
          <p:spPr>
            <a:xfrm>
              <a:off x="3195636" y="2290762"/>
              <a:ext cx="2438400" cy="1590675"/>
            </a:xfrm>
            <a:custGeom>
              <a:avLst/>
              <a:gdLst/>
              <a:ahLst/>
              <a:cxnLst/>
              <a:rect l="l" t="t" r="r" b="b"/>
              <a:pathLst>
                <a:path w="2438400" h="1590675">
                  <a:moveTo>
                    <a:pt x="2396986" y="1590674"/>
                  </a:moveTo>
                  <a:lnTo>
                    <a:pt x="41413" y="1590674"/>
                  </a:lnTo>
                  <a:lnTo>
                    <a:pt x="35322" y="1589463"/>
                  </a:lnTo>
                  <a:lnTo>
                    <a:pt x="1211" y="1555351"/>
                  </a:lnTo>
                  <a:lnTo>
                    <a:pt x="0" y="1549261"/>
                  </a:lnTo>
                  <a:lnTo>
                    <a:pt x="0" y="1542930"/>
                  </a:lnTo>
                  <a:lnTo>
                    <a:pt x="0" y="41412"/>
                  </a:lnTo>
                  <a:lnTo>
                    <a:pt x="23624" y="6056"/>
                  </a:lnTo>
                  <a:lnTo>
                    <a:pt x="41413" y="0"/>
                  </a:lnTo>
                  <a:lnTo>
                    <a:pt x="2396986" y="0"/>
                  </a:lnTo>
                  <a:lnTo>
                    <a:pt x="2432342" y="23623"/>
                  </a:lnTo>
                  <a:lnTo>
                    <a:pt x="2438399" y="41412"/>
                  </a:lnTo>
                  <a:lnTo>
                    <a:pt x="2438399" y="1549261"/>
                  </a:lnTo>
                  <a:lnTo>
                    <a:pt x="2414775" y="1584617"/>
                  </a:lnTo>
                  <a:lnTo>
                    <a:pt x="2403077" y="1589463"/>
                  </a:lnTo>
                  <a:lnTo>
                    <a:pt x="2396986" y="1590674"/>
                  </a:lnTo>
                  <a:close/>
                </a:path>
              </a:pathLst>
            </a:custGeom>
            <a:solidFill>
              <a:srgbClr val="E8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95636" y="2290762"/>
              <a:ext cx="2438400" cy="1590675"/>
            </a:xfrm>
            <a:custGeom>
              <a:avLst/>
              <a:gdLst/>
              <a:ahLst/>
              <a:cxnLst/>
              <a:rect l="l" t="t" r="r" b="b"/>
              <a:pathLst>
                <a:path w="2438400" h="1590675">
                  <a:moveTo>
                    <a:pt x="0" y="1542930"/>
                  </a:moveTo>
                  <a:lnTo>
                    <a:pt x="0" y="47744"/>
                  </a:lnTo>
                  <a:lnTo>
                    <a:pt x="0" y="41412"/>
                  </a:lnTo>
                  <a:lnTo>
                    <a:pt x="1211" y="35322"/>
                  </a:lnTo>
                  <a:lnTo>
                    <a:pt x="3634" y="29472"/>
                  </a:lnTo>
                  <a:lnTo>
                    <a:pt x="6056" y="23623"/>
                  </a:lnTo>
                  <a:lnTo>
                    <a:pt x="9506" y="18460"/>
                  </a:lnTo>
                  <a:lnTo>
                    <a:pt x="13984" y="13983"/>
                  </a:lnTo>
                  <a:lnTo>
                    <a:pt x="18460" y="9506"/>
                  </a:lnTo>
                  <a:lnTo>
                    <a:pt x="23624" y="6056"/>
                  </a:lnTo>
                  <a:lnTo>
                    <a:pt x="29473" y="3634"/>
                  </a:lnTo>
                  <a:lnTo>
                    <a:pt x="35322" y="1211"/>
                  </a:lnTo>
                  <a:lnTo>
                    <a:pt x="41413" y="0"/>
                  </a:lnTo>
                  <a:lnTo>
                    <a:pt x="47744" y="0"/>
                  </a:lnTo>
                  <a:lnTo>
                    <a:pt x="2390655" y="0"/>
                  </a:lnTo>
                  <a:lnTo>
                    <a:pt x="2396986" y="0"/>
                  </a:lnTo>
                  <a:lnTo>
                    <a:pt x="2403077" y="1211"/>
                  </a:lnTo>
                  <a:lnTo>
                    <a:pt x="2408926" y="3634"/>
                  </a:lnTo>
                  <a:lnTo>
                    <a:pt x="2414775" y="6056"/>
                  </a:lnTo>
                  <a:lnTo>
                    <a:pt x="2438399" y="41412"/>
                  </a:lnTo>
                  <a:lnTo>
                    <a:pt x="2438400" y="47744"/>
                  </a:lnTo>
                  <a:lnTo>
                    <a:pt x="2438400" y="1542930"/>
                  </a:lnTo>
                  <a:lnTo>
                    <a:pt x="2419939" y="1581167"/>
                  </a:lnTo>
                  <a:lnTo>
                    <a:pt x="2390655" y="1590674"/>
                  </a:lnTo>
                  <a:lnTo>
                    <a:pt x="47744" y="1590674"/>
                  </a:lnTo>
                  <a:lnTo>
                    <a:pt x="9506" y="1572213"/>
                  </a:lnTo>
                  <a:lnTo>
                    <a:pt x="0" y="1549261"/>
                  </a:lnTo>
                  <a:lnTo>
                    <a:pt x="0" y="1542930"/>
                  </a:lnTo>
                  <a:close/>
                </a:path>
              </a:pathLst>
            </a:custGeom>
            <a:ln w="9524">
              <a:solidFill>
                <a:srgbClr val="BDB8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341885" y="2428748"/>
            <a:ext cx="2145665" cy="7956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60" b="1">
                <a:solidFill>
                  <a:srgbClr val="292641"/>
                </a:solidFill>
                <a:latin typeface="Tahoma"/>
                <a:cs typeface="Tahoma"/>
              </a:rPr>
              <a:t>Use</a:t>
            </a:r>
            <a:r>
              <a:rPr dirty="0" sz="1450" spc="-13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120" b="1">
                <a:solidFill>
                  <a:srgbClr val="292641"/>
                </a:solidFill>
                <a:latin typeface="Tahoma"/>
                <a:cs typeface="Tahoma"/>
              </a:rPr>
              <a:t>&amp;</a:t>
            </a:r>
            <a:r>
              <a:rPr dirty="0" sz="1450" spc="-19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65" b="1">
                <a:solidFill>
                  <a:srgbClr val="292641"/>
                </a:solidFill>
                <a:latin typeface="Tahoma"/>
                <a:cs typeface="Tahoma"/>
              </a:rPr>
              <a:t>Risk</a:t>
            </a:r>
            <a:r>
              <a:rPr dirty="0" sz="1450" spc="-13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35" b="1">
                <a:solidFill>
                  <a:srgbClr val="292641"/>
                </a:solidFill>
                <a:latin typeface="Tahoma"/>
                <a:cs typeface="Tahoma"/>
              </a:rPr>
              <a:t>Identification</a:t>
            </a:r>
            <a:endParaRPr sz="1450">
              <a:latin typeface="Tahoma"/>
              <a:cs typeface="Tahoma"/>
            </a:endParaRPr>
          </a:p>
          <a:p>
            <a:pPr marL="12700" marR="48260">
              <a:lnSpc>
                <a:spcPct val="135900"/>
              </a:lnSpc>
              <a:spcBef>
                <a:spcPts val="540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Identify</a:t>
            </a:r>
            <a:r>
              <a:rPr dirty="0" sz="1150" spc="114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valuable</a:t>
            </a:r>
            <a:r>
              <a:rPr dirty="0" sz="1150" spc="12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business</a:t>
            </a:r>
            <a:r>
              <a:rPr dirty="0" sz="1150" spc="114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292641"/>
                </a:solidFill>
                <a:latin typeface="Arial MT"/>
                <a:cs typeface="Arial MT"/>
              </a:rPr>
              <a:t>uses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of</a:t>
            </a:r>
            <a:r>
              <a:rPr dirty="0" sz="1150" spc="-2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AI</a:t>
            </a:r>
            <a:r>
              <a:rPr dirty="0" sz="1150" spc="5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their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associated</a:t>
            </a:r>
            <a:r>
              <a:rPr dirty="0" sz="1150" spc="5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risks.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791198" y="2285999"/>
            <a:ext cx="2447925" cy="1600200"/>
            <a:chOff x="5791198" y="2285999"/>
            <a:chExt cx="2447925" cy="1600200"/>
          </a:xfrm>
        </p:grpSpPr>
        <p:sp>
          <p:nvSpPr>
            <p:cNvPr id="12" name="object 12"/>
            <p:cNvSpPr/>
            <p:nvPr/>
          </p:nvSpPr>
          <p:spPr>
            <a:xfrm>
              <a:off x="5795961" y="2290762"/>
              <a:ext cx="2438400" cy="1590675"/>
            </a:xfrm>
            <a:custGeom>
              <a:avLst/>
              <a:gdLst/>
              <a:ahLst/>
              <a:cxnLst/>
              <a:rect l="l" t="t" r="r" b="b"/>
              <a:pathLst>
                <a:path w="2438400" h="1590675">
                  <a:moveTo>
                    <a:pt x="2396986" y="1590674"/>
                  </a:moveTo>
                  <a:lnTo>
                    <a:pt x="41413" y="1590674"/>
                  </a:lnTo>
                  <a:lnTo>
                    <a:pt x="35322" y="1589463"/>
                  </a:lnTo>
                  <a:lnTo>
                    <a:pt x="1211" y="1555351"/>
                  </a:lnTo>
                  <a:lnTo>
                    <a:pt x="0" y="1549261"/>
                  </a:lnTo>
                  <a:lnTo>
                    <a:pt x="0" y="1542930"/>
                  </a:lnTo>
                  <a:lnTo>
                    <a:pt x="0" y="41412"/>
                  </a:lnTo>
                  <a:lnTo>
                    <a:pt x="23624" y="6056"/>
                  </a:lnTo>
                  <a:lnTo>
                    <a:pt x="41413" y="0"/>
                  </a:lnTo>
                  <a:lnTo>
                    <a:pt x="2396986" y="0"/>
                  </a:lnTo>
                  <a:lnTo>
                    <a:pt x="2432342" y="23623"/>
                  </a:lnTo>
                  <a:lnTo>
                    <a:pt x="2438399" y="41412"/>
                  </a:lnTo>
                  <a:lnTo>
                    <a:pt x="2438399" y="1549261"/>
                  </a:lnTo>
                  <a:lnTo>
                    <a:pt x="2414775" y="1584617"/>
                  </a:lnTo>
                  <a:lnTo>
                    <a:pt x="2403076" y="1589463"/>
                  </a:lnTo>
                  <a:lnTo>
                    <a:pt x="2396986" y="1590674"/>
                  </a:lnTo>
                  <a:close/>
                </a:path>
              </a:pathLst>
            </a:custGeom>
            <a:solidFill>
              <a:srgbClr val="E8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795961" y="2290762"/>
              <a:ext cx="2438400" cy="1590675"/>
            </a:xfrm>
            <a:custGeom>
              <a:avLst/>
              <a:gdLst/>
              <a:ahLst/>
              <a:cxnLst/>
              <a:rect l="l" t="t" r="r" b="b"/>
              <a:pathLst>
                <a:path w="2438400" h="1590675">
                  <a:moveTo>
                    <a:pt x="0" y="1542930"/>
                  </a:moveTo>
                  <a:lnTo>
                    <a:pt x="0" y="47744"/>
                  </a:lnTo>
                  <a:lnTo>
                    <a:pt x="0" y="41412"/>
                  </a:lnTo>
                  <a:lnTo>
                    <a:pt x="1211" y="35322"/>
                  </a:lnTo>
                  <a:lnTo>
                    <a:pt x="3634" y="29472"/>
                  </a:lnTo>
                  <a:lnTo>
                    <a:pt x="6057" y="23623"/>
                  </a:lnTo>
                  <a:lnTo>
                    <a:pt x="9507" y="18460"/>
                  </a:lnTo>
                  <a:lnTo>
                    <a:pt x="13984" y="13983"/>
                  </a:lnTo>
                  <a:lnTo>
                    <a:pt x="18461" y="9506"/>
                  </a:lnTo>
                  <a:lnTo>
                    <a:pt x="23624" y="6056"/>
                  </a:lnTo>
                  <a:lnTo>
                    <a:pt x="29473" y="3634"/>
                  </a:lnTo>
                  <a:lnTo>
                    <a:pt x="35322" y="1211"/>
                  </a:lnTo>
                  <a:lnTo>
                    <a:pt x="41413" y="0"/>
                  </a:lnTo>
                  <a:lnTo>
                    <a:pt x="47744" y="0"/>
                  </a:lnTo>
                  <a:lnTo>
                    <a:pt x="2390656" y="0"/>
                  </a:lnTo>
                  <a:lnTo>
                    <a:pt x="2396986" y="0"/>
                  </a:lnTo>
                  <a:lnTo>
                    <a:pt x="2403076" y="1211"/>
                  </a:lnTo>
                  <a:lnTo>
                    <a:pt x="2408926" y="3634"/>
                  </a:lnTo>
                  <a:lnTo>
                    <a:pt x="2414775" y="6056"/>
                  </a:lnTo>
                  <a:lnTo>
                    <a:pt x="2434765" y="29472"/>
                  </a:lnTo>
                  <a:lnTo>
                    <a:pt x="2437188" y="35322"/>
                  </a:lnTo>
                  <a:lnTo>
                    <a:pt x="2438399" y="41412"/>
                  </a:lnTo>
                  <a:lnTo>
                    <a:pt x="2438400" y="47744"/>
                  </a:lnTo>
                  <a:lnTo>
                    <a:pt x="2438400" y="1542930"/>
                  </a:lnTo>
                  <a:lnTo>
                    <a:pt x="2438399" y="1549261"/>
                  </a:lnTo>
                  <a:lnTo>
                    <a:pt x="2437188" y="1555351"/>
                  </a:lnTo>
                  <a:lnTo>
                    <a:pt x="2434765" y="1561201"/>
                  </a:lnTo>
                  <a:lnTo>
                    <a:pt x="2432342" y="1567050"/>
                  </a:lnTo>
                  <a:lnTo>
                    <a:pt x="2396986" y="1590674"/>
                  </a:lnTo>
                  <a:lnTo>
                    <a:pt x="2390656" y="1590674"/>
                  </a:lnTo>
                  <a:lnTo>
                    <a:pt x="47744" y="1590674"/>
                  </a:lnTo>
                  <a:lnTo>
                    <a:pt x="13984" y="1576690"/>
                  </a:lnTo>
                  <a:lnTo>
                    <a:pt x="9507" y="1572213"/>
                  </a:lnTo>
                  <a:lnTo>
                    <a:pt x="6057" y="1567050"/>
                  </a:lnTo>
                  <a:lnTo>
                    <a:pt x="3634" y="1561201"/>
                  </a:lnTo>
                  <a:lnTo>
                    <a:pt x="1211" y="1555351"/>
                  </a:lnTo>
                  <a:lnTo>
                    <a:pt x="0" y="1549261"/>
                  </a:lnTo>
                  <a:lnTo>
                    <a:pt x="0" y="1542930"/>
                  </a:lnTo>
                  <a:close/>
                </a:path>
              </a:pathLst>
            </a:custGeom>
            <a:ln w="9524">
              <a:solidFill>
                <a:srgbClr val="BDB8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5936852" y="2428748"/>
            <a:ext cx="2068830" cy="7956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b="1">
                <a:solidFill>
                  <a:srgbClr val="292641"/>
                </a:solidFill>
                <a:latin typeface="Tahoma"/>
                <a:cs typeface="Tahoma"/>
              </a:rPr>
              <a:t>Data</a:t>
            </a:r>
            <a:r>
              <a:rPr dirty="0" sz="1450" spc="-11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10" b="1">
                <a:solidFill>
                  <a:srgbClr val="292641"/>
                </a:solidFill>
                <a:latin typeface="Tahoma"/>
                <a:cs typeface="Tahoma"/>
              </a:rPr>
              <a:t>Protection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Apply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rules</a:t>
            </a:r>
            <a:r>
              <a:rPr dirty="0" sz="1150" spc="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that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protect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confidential</a:t>
            </a:r>
            <a:r>
              <a:rPr dirty="0" sz="1150" spc="1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150" spc="1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personal</a:t>
            </a:r>
            <a:r>
              <a:rPr dirty="0" sz="1150" spc="1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data.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381998" y="2285999"/>
            <a:ext cx="2447925" cy="1600200"/>
            <a:chOff x="8381998" y="2285999"/>
            <a:chExt cx="2447925" cy="1600200"/>
          </a:xfrm>
        </p:grpSpPr>
        <p:sp>
          <p:nvSpPr>
            <p:cNvPr id="16" name="object 16"/>
            <p:cNvSpPr/>
            <p:nvPr/>
          </p:nvSpPr>
          <p:spPr>
            <a:xfrm>
              <a:off x="8386760" y="2290762"/>
              <a:ext cx="2438400" cy="1590675"/>
            </a:xfrm>
            <a:custGeom>
              <a:avLst/>
              <a:gdLst/>
              <a:ahLst/>
              <a:cxnLst/>
              <a:rect l="l" t="t" r="r" b="b"/>
              <a:pathLst>
                <a:path w="2438400" h="1590675">
                  <a:moveTo>
                    <a:pt x="2396987" y="1590674"/>
                  </a:moveTo>
                  <a:lnTo>
                    <a:pt x="41413" y="1590674"/>
                  </a:lnTo>
                  <a:lnTo>
                    <a:pt x="35322" y="1589463"/>
                  </a:lnTo>
                  <a:lnTo>
                    <a:pt x="1211" y="1555351"/>
                  </a:lnTo>
                  <a:lnTo>
                    <a:pt x="0" y="1549261"/>
                  </a:lnTo>
                  <a:lnTo>
                    <a:pt x="0" y="1542930"/>
                  </a:lnTo>
                  <a:lnTo>
                    <a:pt x="0" y="41412"/>
                  </a:lnTo>
                  <a:lnTo>
                    <a:pt x="23622" y="6056"/>
                  </a:lnTo>
                  <a:lnTo>
                    <a:pt x="41413" y="0"/>
                  </a:lnTo>
                  <a:lnTo>
                    <a:pt x="2396987" y="0"/>
                  </a:lnTo>
                  <a:lnTo>
                    <a:pt x="2432342" y="23623"/>
                  </a:lnTo>
                  <a:lnTo>
                    <a:pt x="2438399" y="41412"/>
                  </a:lnTo>
                  <a:lnTo>
                    <a:pt x="2438399" y="1549261"/>
                  </a:lnTo>
                  <a:lnTo>
                    <a:pt x="2414775" y="1584617"/>
                  </a:lnTo>
                  <a:lnTo>
                    <a:pt x="2403076" y="1589463"/>
                  </a:lnTo>
                  <a:lnTo>
                    <a:pt x="2396987" y="1590674"/>
                  </a:lnTo>
                  <a:close/>
                </a:path>
              </a:pathLst>
            </a:custGeom>
            <a:solidFill>
              <a:srgbClr val="E8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386760" y="2290762"/>
              <a:ext cx="2438400" cy="1590675"/>
            </a:xfrm>
            <a:custGeom>
              <a:avLst/>
              <a:gdLst/>
              <a:ahLst/>
              <a:cxnLst/>
              <a:rect l="l" t="t" r="r" b="b"/>
              <a:pathLst>
                <a:path w="2438400" h="1590675">
                  <a:moveTo>
                    <a:pt x="0" y="1542930"/>
                  </a:moveTo>
                  <a:lnTo>
                    <a:pt x="0" y="47744"/>
                  </a:lnTo>
                  <a:lnTo>
                    <a:pt x="0" y="41412"/>
                  </a:lnTo>
                  <a:lnTo>
                    <a:pt x="1211" y="35322"/>
                  </a:lnTo>
                  <a:lnTo>
                    <a:pt x="3633" y="29472"/>
                  </a:lnTo>
                  <a:lnTo>
                    <a:pt x="6055" y="23623"/>
                  </a:lnTo>
                  <a:lnTo>
                    <a:pt x="9506" y="18460"/>
                  </a:lnTo>
                  <a:lnTo>
                    <a:pt x="13983" y="13983"/>
                  </a:lnTo>
                  <a:lnTo>
                    <a:pt x="18459" y="9506"/>
                  </a:lnTo>
                  <a:lnTo>
                    <a:pt x="23622" y="6056"/>
                  </a:lnTo>
                  <a:lnTo>
                    <a:pt x="29472" y="3634"/>
                  </a:lnTo>
                  <a:lnTo>
                    <a:pt x="35322" y="1211"/>
                  </a:lnTo>
                  <a:lnTo>
                    <a:pt x="41413" y="0"/>
                  </a:lnTo>
                  <a:lnTo>
                    <a:pt x="47744" y="0"/>
                  </a:lnTo>
                  <a:lnTo>
                    <a:pt x="2390656" y="0"/>
                  </a:lnTo>
                  <a:lnTo>
                    <a:pt x="2396987" y="0"/>
                  </a:lnTo>
                  <a:lnTo>
                    <a:pt x="2403076" y="1211"/>
                  </a:lnTo>
                  <a:lnTo>
                    <a:pt x="2434764" y="29472"/>
                  </a:lnTo>
                  <a:lnTo>
                    <a:pt x="2437187" y="35322"/>
                  </a:lnTo>
                  <a:lnTo>
                    <a:pt x="2438399" y="41412"/>
                  </a:lnTo>
                  <a:lnTo>
                    <a:pt x="2438400" y="47744"/>
                  </a:lnTo>
                  <a:lnTo>
                    <a:pt x="2438400" y="1542930"/>
                  </a:lnTo>
                  <a:lnTo>
                    <a:pt x="2438399" y="1549261"/>
                  </a:lnTo>
                  <a:lnTo>
                    <a:pt x="2437187" y="1555351"/>
                  </a:lnTo>
                  <a:lnTo>
                    <a:pt x="2434764" y="1561201"/>
                  </a:lnTo>
                  <a:lnTo>
                    <a:pt x="2432342" y="1567050"/>
                  </a:lnTo>
                  <a:lnTo>
                    <a:pt x="2396987" y="1590674"/>
                  </a:lnTo>
                  <a:lnTo>
                    <a:pt x="2390656" y="1590674"/>
                  </a:lnTo>
                  <a:lnTo>
                    <a:pt x="47744" y="1590674"/>
                  </a:lnTo>
                  <a:lnTo>
                    <a:pt x="13984" y="1576690"/>
                  </a:lnTo>
                  <a:lnTo>
                    <a:pt x="9506" y="1572213"/>
                  </a:lnTo>
                  <a:lnTo>
                    <a:pt x="6055" y="1567050"/>
                  </a:lnTo>
                  <a:lnTo>
                    <a:pt x="3633" y="1561201"/>
                  </a:lnTo>
                  <a:lnTo>
                    <a:pt x="1211" y="1555351"/>
                  </a:lnTo>
                  <a:lnTo>
                    <a:pt x="0" y="1549261"/>
                  </a:lnTo>
                  <a:lnTo>
                    <a:pt x="0" y="1542930"/>
                  </a:lnTo>
                  <a:close/>
                </a:path>
              </a:pathLst>
            </a:custGeom>
            <a:ln w="9524">
              <a:solidFill>
                <a:srgbClr val="BDB8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531820" y="2428748"/>
            <a:ext cx="2127250" cy="7956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65" b="1">
                <a:solidFill>
                  <a:srgbClr val="292641"/>
                </a:solidFill>
                <a:latin typeface="Tahoma"/>
                <a:cs typeface="Tahoma"/>
              </a:rPr>
              <a:t>Tool</a:t>
            </a:r>
            <a:r>
              <a:rPr dirty="0" sz="1450" spc="-13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10" b="1">
                <a:solidFill>
                  <a:srgbClr val="292641"/>
                </a:solidFill>
                <a:latin typeface="Tahoma"/>
                <a:cs typeface="Tahoma"/>
              </a:rPr>
              <a:t>Selection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Select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suitable</a:t>
            </a:r>
            <a:r>
              <a:rPr dirty="0" sz="1150" spc="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AI</a:t>
            </a:r>
            <a:r>
              <a:rPr dirty="0" sz="1150" spc="8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platforms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292641"/>
                </a:solidFill>
                <a:latin typeface="Arial MT"/>
                <a:cs typeface="Arial MT"/>
              </a:rPr>
              <a:t>and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subscription</a:t>
            </a:r>
            <a:r>
              <a:rPr dirty="0" sz="1150" spc="12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levels.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0074" y="4038599"/>
            <a:ext cx="10229850" cy="876300"/>
            <a:chOff x="600074" y="4038599"/>
            <a:chExt cx="10229850" cy="876300"/>
          </a:xfrm>
        </p:grpSpPr>
        <p:sp>
          <p:nvSpPr>
            <p:cNvPr id="20" name="object 20"/>
            <p:cNvSpPr/>
            <p:nvPr/>
          </p:nvSpPr>
          <p:spPr>
            <a:xfrm>
              <a:off x="604837" y="4043362"/>
              <a:ext cx="10220325" cy="866775"/>
            </a:xfrm>
            <a:custGeom>
              <a:avLst/>
              <a:gdLst/>
              <a:ahLst/>
              <a:cxnLst/>
              <a:rect l="l" t="t" r="r" b="b"/>
              <a:pathLst>
                <a:path w="10220325" h="866775">
                  <a:moveTo>
                    <a:pt x="10178911" y="866774"/>
                  </a:moveTo>
                  <a:lnTo>
                    <a:pt x="41412" y="866774"/>
                  </a:lnTo>
                  <a:lnTo>
                    <a:pt x="35322" y="865562"/>
                  </a:lnTo>
                  <a:lnTo>
                    <a:pt x="1211" y="831452"/>
                  </a:lnTo>
                  <a:lnTo>
                    <a:pt x="0" y="825361"/>
                  </a:lnTo>
                  <a:lnTo>
                    <a:pt x="0" y="819030"/>
                  </a:lnTo>
                  <a:lnTo>
                    <a:pt x="0" y="41412"/>
                  </a:lnTo>
                  <a:lnTo>
                    <a:pt x="23623" y="6056"/>
                  </a:lnTo>
                  <a:lnTo>
                    <a:pt x="41412" y="0"/>
                  </a:lnTo>
                  <a:lnTo>
                    <a:pt x="10178911" y="0"/>
                  </a:lnTo>
                  <a:lnTo>
                    <a:pt x="10214266" y="23623"/>
                  </a:lnTo>
                  <a:lnTo>
                    <a:pt x="10220323" y="41412"/>
                  </a:lnTo>
                  <a:lnTo>
                    <a:pt x="10220323" y="825361"/>
                  </a:lnTo>
                  <a:lnTo>
                    <a:pt x="10196698" y="860717"/>
                  </a:lnTo>
                  <a:lnTo>
                    <a:pt x="10185000" y="865562"/>
                  </a:lnTo>
                  <a:lnTo>
                    <a:pt x="10178911" y="866774"/>
                  </a:lnTo>
                  <a:close/>
                </a:path>
              </a:pathLst>
            </a:custGeom>
            <a:solidFill>
              <a:srgbClr val="E8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04837" y="4043362"/>
              <a:ext cx="10220325" cy="866775"/>
            </a:xfrm>
            <a:custGeom>
              <a:avLst/>
              <a:gdLst/>
              <a:ahLst/>
              <a:cxnLst/>
              <a:rect l="l" t="t" r="r" b="b"/>
              <a:pathLst>
                <a:path w="10220325" h="866775">
                  <a:moveTo>
                    <a:pt x="0" y="819030"/>
                  </a:moveTo>
                  <a:lnTo>
                    <a:pt x="0" y="47744"/>
                  </a:lnTo>
                  <a:lnTo>
                    <a:pt x="0" y="41412"/>
                  </a:lnTo>
                  <a:lnTo>
                    <a:pt x="1211" y="35322"/>
                  </a:lnTo>
                  <a:lnTo>
                    <a:pt x="3634" y="29472"/>
                  </a:lnTo>
                  <a:lnTo>
                    <a:pt x="6057" y="23623"/>
                  </a:lnTo>
                  <a:lnTo>
                    <a:pt x="9506" y="18460"/>
                  </a:lnTo>
                  <a:lnTo>
                    <a:pt x="13983" y="13983"/>
                  </a:lnTo>
                  <a:lnTo>
                    <a:pt x="18460" y="9506"/>
                  </a:lnTo>
                  <a:lnTo>
                    <a:pt x="23623" y="6056"/>
                  </a:lnTo>
                  <a:lnTo>
                    <a:pt x="29473" y="3634"/>
                  </a:lnTo>
                  <a:lnTo>
                    <a:pt x="35322" y="1211"/>
                  </a:lnTo>
                  <a:lnTo>
                    <a:pt x="41412" y="0"/>
                  </a:lnTo>
                  <a:lnTo>
                    <a:pt x="47744" y="0"/>
                  </a:lnTo>
                  <a:lnTo>
                    <a:pt x="10172580" y="0"/>
                  </a:lnTo>
                  <a:lnTo>
                    <a:pt x="10178911" y="0"/>
                  </a:lnTo>
                  <a:lnTo>
                    <a:pt x="10185000" y="1211"/>
                  </a:lnTo>
                  <a:lnTo>
                    <a:pt x="10216688" y="29472"/>
                  </a:lnTo>
                  <a:lnTo>
                    <a:pt x="10219111" y="35321"/>
                  </a:lnTo>
                  <a:lnTo>
                    <a:pt x="10220323" y="41412"/>
                  </a:lnTo>
                  <a:lnTo>
                    <a:pt x="10220324" y="47744"/>
                  </a:lnTo>
                  <a:lnTo>
                    <a:pt x="10220324" y="819030"/>
                  </a:lnTo>
                  <a:lnTo>
                    <a:pt x="10220323" y="825361"/>
                  </a:lnTo>
                  <a:lnTo>
                    <a:pt x="10219111" y="831451"/>
                  </a:lnTo>
                  <a:lnTo>
                    <a:pt x="10216688" y="837301"/>
                  </a:lnTo>
                  <a:lnTo>
                    <a:pt x="10214266" y="843150"/>
                  </a:lnTo>
                  <a:lnTo>
                    <a:pt x="10178911" y="866774"/>
                  </a:lnTo>
                  <a:lnTo>
                    <a:pt x="10172580" y="866774"/>
                  </a:lnTo>
                  <a:lnTo>
                    <a:pt x="47744" y="866774"/>
                  </a:lnTo>
                  <a:lnTo>
                    <a:pt x="9507" y="848313"/>
                  </a:lnTo>
                  <a:lnTo>
                    <a:pt x="0" y="825361"/>
                  </a:lnTo>
                  <a:lnTo>
                    <a:pt x="0" y="819030"/>
                  </a:lnTo>
                  <a:close/>
                </a:path>
              </a:pathLst>
            </a:custGeom>
            <a:ln w="9524">
              <a:solidFill>
                <a:srgbClr val="BDB8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46918" y="4171822"/>
            <a:ext cx="4962525" cy="5670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10" b="1">
                <a:solidFill>
                  <a:srgbClr val="292641"/>
                </a:solidFill>
                <a:latin typeface="Tahoma"/>
                <a:cs typeface="Tahoma"/>
              </a:rPr>
              <a:t>Implementation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Implement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controls,</a:t>
            </a:r>
            <a:r>
              <a:rPr dirty="0" sz="1150" spc="8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monitoring</a:t>
            </a:r>
            <a:r>
              <a:rPr dirty="0" sz="1150" spc="8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employee</a:t>
            </a:r>
            <a:r>
              <a:rPr dirty="0" sz="1150" spc="8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training</a:t>
            </a:r>
            <a:r>
              <a:rPr dirty="0" sz="1150" spc="8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for</a:t>
            </a:r>
            <a:r>
              <a:rPr dirty="0" sz="1150" spc="8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secure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adoption.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23" name="object 23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0"/>
            <a:ext cx="4286250" cy="6438900"/>
            <a:chOff x="7143750" y="0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49" cy="6438899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5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7374" y="1326800"/>
            <a:ext cx="5534660" cy="942340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55"/>
              </a:spcBef>
            </a:pPr>
            <a:r>
              <a:rPr dirty="0" spc="-204"/>
              <a:t>AI</a:t>
            </a:r>
            <a:r>
              <a:rPr dirty="0" spc="-260"/>
              <a:t> </a:t>
            </a:r>
            <a:r>
              <a:rPr dirty="0" spc="-95"/>
              <a:t>Governance</a:t>
            </a:r>
            <a:r>
              <a:rPr dirty="0" spc="-260"/>
              <a:t> </a:t>
            </a:r>
            <a:r>
              <a:rPr dirty="0" spc="-114"/>
              <a:t>Fundamentals</a:t>
            </a:r>
            <a:r>
              <a:rPr dirty="0" spc="-260"/>
              <a:t> </a:t>
            </a:r>
            <a:r>
              <a:rPr dirty="0" spc="-305"/>
              <a:t>&amp; </a:t>
            </a:r>
            <a:r>
              <a:rPr dirty="0" spc="-10"/>
              <a:t>Principles</a:t>
            </a:r>
          </a:p>
        </p:txBody>
      </p:sp>
      <p:sp>
        <p:nvSpPr>
          <p:cNvPr id="6" name="object 6"/>
          <p:cNvSpPr/>
          <p:nvPr/>
        </p:nvSpPr>
        <p:spPr>
          <a:xfrm>
            <a:off x="628649" y="34956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2926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28649" y="37909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9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2926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8649" y="40862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2926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28649" y="43719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2926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28649" y="46672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2926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28649" y="49625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2926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dirty="0"/>
              <a:t>AI</a:t>
            </a:r>
            <a:r>
              <a:rPr dirty="0" spc="60"/>
              <a:t> </a:t>
            </a:r>
            <a:r>
              <a:rPr dirty="0"/>
              <a:t>governance</a:t>
            </a:r>
            <a:r>
              <a:rPr dirty="0" spc="65"/>
              <a:t> </a:t>
            </a:r>
            <a:r>
              <a:rPr dirty="0"/>
              <a:t>directs</a:t>
            </a:r>
            <a:r>
              <a:rPr dirty="0" spc="65"/>
              <a:t> </a:t>
            </a:r>
            <a:r>
              <a:rPr dirty="0"/>
              <a:t>how</a:t>
            </a:r>
            <a:r>
              <a:rPr dirty="0" spc="-10"/>
              <a:t> </a:t>
            </a:r>
            <a:r>
              <a:rPr dirty="0"/>
              <a:t>AI</a:t>
            </a:r>
            <a:r>
              <a:rPr dirty="0" spc="65"/>
              <a:t> </a:t>
            </a:r>
            <a:r>
              <a:rPr dirty="0"/>
              <a:t>is</a:t>
            </a:r>
            <a:r>
              <a:rPr dirty="0" spc="60"/>
              <a:t> </a:t>
            </a:r>
            <a:r>
              <a:rPr dirty="0"/>
              <a:t>selected,</a:t>
            </a:r>
            <a:r>
              <a:rPr dirty="0" spc="65"/>
              <a:t> </a:t>
            </a:r>
            <a:r>
              <a:rPr dirty="0"/>
              <a:t>built,</a:t>
            </a:r>
            <a:r>
              <a:rPr dirty="0" spc="65"/>
              <a:t> </a:t>
            </a:r>
            <a:r>
              <a:rPr dirty="0"/>
              <a:t>used,</a:t>
            </a:r>
            <a:r>
              <a:rPr dirty="0" spc="65"/>
              <a:t> </a:t>
            </a:r>
            <a:r>
              <a:rPr dirty="0"/>
              <a:t>monitored</a:t>
            </a:r>
            <a:r>
              <a:rPr dirty="0" spc="65"/>
              <a:t> </a:t>
            </a:r>
            <a:r>
              <a:rPr dirty="0"/>
              <a:t>and</a:t>
            </a:r>
            <a:r>
              <a:rPr dirty="0" spc="65"/>
              <a:t> </a:t>
            </a:r>
            <a:r>
              <a:rPr dirty="0"/>
              <a:t>retired</a:t>
            </a:r>
            <a:r>
              <a:rPr dirty="0" spc="65"/>
              <a:t> </a:t>
            </a:r>
            <a:r>
              <a:rPr dirty="0"/>
              <a:t>to</a:t>
            </a:r>
            <a:r>
              <a:rPr dirty="0" spc="60"/>
              <a:t> </a:t>
            </a:r>
            <a:r>
              <a:rPr dirty="0" spc="-20"/>
              <a:t>make </a:t>
            </a:r>
            <a:r>
              <a:rPr dirty="0"/>
              <a:t>systems</a:t>
            </a:r>
            <a:r>
              <a:rPr dirty="0" spc="85"/>
              <a:t> </a:t>
            </a:r>
            <a:r>
              <a:rPr dirty="0"/>
              <a:t>trustworthy,</a:t>
            </a:r>
            <a:r>
              <a:rPr dirty="0" spc="85"/>
              <a:t> </a:t>
            </a:r>
            <a:r>
              <a:rPr dirty="0"/>
              <a:t>lawful,</a:t>
            </a:r>
            <a:r>
              <a:rPr dirty="0" spc="85"/>
              <a:t> </a:t>
            </a:r>
            <a:r>
              <a:rPr dirty="0"/>
              <a:t>secure</a:t>
            </a:r>
            <a:r>
              <a:rPr dirty="0" spc="90"/>
              <a:t> </a:t>
            </a:r>
            <a:r>
              <a:rPr dirty="0"/>
              <a:t>and</a:t>
            </a:r>
            <a:r>
              <a:rPr dirty="0" spc="85"/>
              <a:t> </a:t>
            </a:r>
            <a:r>
              <a:rPr dirty="0"/>
              <a:t>aligned</a:t>
            </a:r>
            <a:r>
              <a:rPr dirty="0" spc="85"/>
              <a:t> </a:t>
            </a:r>
            <a:r>
              <a:rPr dirty="0"/>
              <a:t>with</a:t>
            </a:r>
            <a:r>
              <a:rPr dirty="0" spc="90"/>
              <a:t> </a:t>
            </a:r>
            <a:r>
              <a:rPr dirty="0"/>
              <a:t>business</a:t>
            </a:r>
            <a:r>
              <a:rPr dirty="0" spc="85"/>
              <a:t> </a:t>
            </a:r>
            <a:r>
              <a:rPr dirty="0"/>
              <a:t>objectives—not</a:t>
            </a:r>
            <a:r>
              <a:rPr dirty="0" spc="85"/>
              <a:t> </a:t>
            </a:r>
            <a:r>
              <a:rPr dirty="0"/>
              <a:t>to</a:t>
            </a:r>
            <a:r>
              <a:rPr dirty="0" spc="85"/>
              <a:t> </a:t>
            </a:r>
            <a:r>
              <a:rPr dirty="0" spc="-10"/>
              <a:t>prevent </a:t>
            </a:r>
            <a:r>
              <a:rPr dirty="0"/>
              <a:t>innovation.</a:t>
            </a:r>
            <a:r>
              <a:rPr dirty="0" spc="105"/>
              <a:t> </a:t>
            </a:r>
            <a:r>
              <a:rPr dirty="0"/>
              <a:t>Core</a:t>
            </a:r>
            <a:r>
              <a:rPr dirty="0" spc="105"/>
              <a:t> </a:t>
            </a:r>
            <a:r>
              <a:rPr dirty="0"/>
              <a:t>principles</a:t>
            </a:r>
            <a:r>
              <a:rPr dirty="0" spc="110"/>
              <a:t> </a:t>
            </a:r>
            <a:r>
              <a:rPr dirty="0" spc="-10"/>
              <a:t>include:</a:t>
            </a:r>
          </a:p>
          <a:p>
            <a:pPr marL="252095" marR="684530">
              <a:lnSpc>
                <a:spcPct val="167100"/>
              </a:lnSpc>
              <a:spcBef>
                <a:spcPts val="919"/>
              </a:spcBef>
            </a:pPr>
            <a:r>
              <a:rPr dirty="0"/>
              <a:t>Accountability:</a:t>
            </a:r>
            <a:r>
              <a:rPr dirty="0" spc="85"/>
              <a:t> </a:t>
            </a:r>
            <a:r>
              <a:rPr dirty="0"/>
              <a:t>named</a:t>
            </a:r>
            <a:r>
              <a:rPr dirty="0" spc="90"/>
              <a:t> </a:t>
            </a:r>
            <a:r>
              <a:rPr dirty="0"/>
              <a:t>business</a:t>
            </a:r>
            <a:r>
              <a:rPr dirty="0" spc="85"/>
              <a:t> </a:t>
            </a:r>
            <a:r>
              <a:rPr dirty="0"/>
              <a:t>and</a:t>
            </a:r>
            <a:r>
              <a:rPr dirty="0" spc="85"/>
              <a:t> </a:t>
            </a:r>
            <a:r>
              <a:rPr dirty="0"/>
              <a:t>technical</a:t>
            </a:r>
            <a:r>
              <a:rPr dirty="0" spc="90"/>
              <a:t> </a:t>
            </a:r>
            <a:r>
              <a:rPr dirty="0"/>
              <a:t>owners</a:t>
            </a:r>
            <a:r>
              <a:rPr dirty="0" spc="85"/>
              <a:t> </a:t>
            </a:r>
            <a:r>
              <a:rPr dirty="0"/>
              <a:t>for</a:t>
            </a:r>
            <a:r>
              <a:rPr dirty="0" spc="90"/>
              <a:t> </a:t>
            </a:r>
            <a:r>
              <a:rPr dirty="0"/>
              <a:t>every</a:t>
            </a:r>
            <a:r>
              <a:rPr dirty="0" spc="5"/>
              <a:t> </a:t>
            </a:r>
            <a:r>
              <a:rPr dirty="0"/>
              <a:t>AI</a:t>
            </a:r>
            <a:r>
              <a:rPr dirty="0" spc="90"/>
              <a:t> </a:t>
            </a:r>
            <a:r>
              <a:rPr dirty="0" spc="-10"/>
              <a:t>system. </a:t>
            </a:r>
            <a:r>
              <a:rPr dirty="0"/>
              <a:t>Transparency:</a:t>
            </a:r>
            <a:r>
              <a:rPr dirty="0" spc="65"/>
              <a:t> </a:t>
            </a:r>
            <a:r>
              <a:rPr dirty="0"/>
              <a:t>users</a:t>
            </a:r>
            <a:r>
              <a:rPr dirty="0" spc="65"/>
              <a:t> </a:t>
            </a:r>
            <a:r>
              <a:rPr dirty="0"/>
              <a:t>know</a:t>
            </a:r>
            <a:r>
              <a:rPr dirty="0" spc="65"/>
              <a:t> </a:t>
            </a:r>
            <a:r>
              <a:rPr dirty="0"/>
              <a:t>when</a:t>
            </a:r>
            <a:r>
              <a:rPr dirty="0" spc="-15"/>
              <a:t> </a:t>
            </a:r>
            <a:r>
              <a:rPr dirty="0"/>
              <a:t>AI</a:t>
            </a:r>
            <a:r>
              <a:rPr dirty="0" spc="70"/>
              <a:t> </a:t>
            </a:r>
            <a:r>
              <a:rPr dirty="0"/>
              <a:t>is</a:t>
            </a:r>
            <a:r>
              <a:rPr dirty="0" spc="65"/>
              <a:t> </a:t>
            </a:r>
            <a:r>
              <a:rPr dirty="0"/>
              <a:t>used</a:t>
            </a:r>
            <a:r>
              <a:rPr dirty="0" spc="65"/>
              <a:t> </a:t>
            </a:r>
            <a:r>
              <a:rPr dirty="0"/>
              <a:t>and</a:t>
            </a:r>
            <a:r>
              <a:rPr dirty="0" spc="65"/>
              <a:t> </a:t>
            </a:r>
            <a:r>
              <a:rPr dirty="0"/>
              <a:t>how</a:t>
            </a:r>
            <a:r>
              <a:rPr dirty="0" spc="65"/>
              <a:t> </a:t>
            </a:r>
            <a:r>
              <a:rPr dirty="0"/>
              <a:t>outputs</a:t>
            </a:r>
            <a:r>
              <a:rPr dirty="0" spc="65"/>
              <a:t> </a:t>
            </a:r>
            <a:r>
              <a:rPr dirty="0"/>
              <a:t>are</a:t>
            </a:r>
            <a:r>
              <a:rPr dirty="0" spc="65"/>
              <a:t> </a:t>
            </a:r>
            <a:r>
              <a:rPr dirty="0" spc="-10"/>
              <a:t>reviewed. </a:t>
            </a:r>
            <a:r>
              <a:rPr dirty="0"/>
              <a:t>Privacy</a:t>
            </a:r>
            <a:r>
              <a:rPr dirty="0" spc="75"/>
              <a:t> </a:t>
            </a:r>
            <a:r>
              <a:rPr dirty="0"/>
              <a:t>&amp;</a:t>
            </a:r>
            <a:r>
              <a:rPr dirty="0" spc="70"/>
              <a:t> </a:t>
            </a:r>
            <a:r>
              <a:rPr dirty="0"/>
              <a:t>security:</a:t>
            </a:r>
            <a:r>
              <a:rPr dirty="0" spc="75"/>
              <a:t> </a:t>
            </a:r>
            <a:r>
              <a:rPr dirty="0"/>
              <a:t>minimize,</a:t>
            </a:r>
            <a:r>
              <a:rPr dirty="0" spc="75"/>
              <a:t> </a:t>
            </a:r>
            <a:r>
              <a:rPr dirty="0"/>
              <a:t>classify</a:t>
            </a:r>
            <a:r>
              <a:rPr dirty="0" spc="75"/>
              <a:t> </a:t>
            </a:r>
            <a:r>
              <a:rPr dirty="0"/>
              <a:t>and</a:t>
            </a:r>
            <a:r>
              <a:rPr dirty="0" spc="75"/>
              <a:t> </a:t>
            </a:r>
            <a:r>
              <a:rPr dirty="0"/>
              <a:t>protect</a:t>
            </a:r>
            <a:r>
              <a:rPr dirty="0" spc="75"/>
              <a:t> </a:t>
            </a:r>
            <a:r>
              <a:rPr dirty="0"/>
              <a:t>data;</a:t>
            </a:r>
            <a:r>
              <a:rPr dirty="0" spc="75"/>
              <a:t> </a:t>
            </a:r>
            <a:r>
              <a:rPr dirty="0"/>
              <a:t>authorize</a:t>
            </a:r>
            <a:r>
              <a:rPr dirty="0" spc="75"/>
              <a:t> </a:t>
            </a:r>
            <a:r>
              <a:rPr dirty="0" spc="-10"/>
              <a:t>access. </a:t>
            </a:r>
            <a:r>
              <a:rPr dirty="0"/>
              <a:t>Fairness</a:t>
            </a:r>
            <a:r>
              <a:rPr dirty="0" spc="70"/>
              <a:t> </a:t>
            </a:r>
            <a:r>
              <a:rPr dirty="0"/>
              <a:t>&amp;</a:t>
            </a:r>
            <a:r>
              <a:rPr dirty="0" spc="70"/>
              <a:t> </a:t>
            </a:r>
            <a:r>
              <a:rPr dirty="0"/>
              <a:t>safety:</a:t>
            </a:r>
            <a:r>
              <a:rPr dirty="0" spc="70"/>
              <a:t> </a:t>
            </a:r>
            <a:r>
              <a:rPr dirty="0"/>
              <a:t>test</a:t>
            </a:r>
            <a:r>
              <a:rPr dirty="0" spc="75"/>
              <a:t> </a:t>
            </a:r>
            <a:r>
              <a:rPr dirty="0"/>
              <a:t>material</a:t>
            </a:r>
            <a:r>
              <a:rPr dirty="0" spc="70"/>
              <a:t> </a:t>
            </a:r>
            <a:r>
              <a:rPr dirty="0"/>
              <a:t>decisions</a:t>
            </a:r>
            <a:r>
              <a:rPr dirty="0" spc="70"/>
              <a:t> </a:t>
            </a:r>
            <a:r>
              <a:rPr dirty="0"/>
              <a:t>for</a:t>
            </a:r>
            <a:r>
              <a:rPr dirty="0" spc="75"/>
              <a:t> </a:t>
            </a:r>
            <a:r>
              <a:rPr dirty="0"/>
              <a:t>bias</a:t>
            </a:r>
            <a:r>
              <a:rPr dirty="0" spc="70"/>
              <a:t> </a:t>
            </a:r>
            <a:r>
              <a:rPr dirty="0"/>
              <a:t>and</a:t>
            </a:r>
            <a:r>
              <a:rPr dirty="0" spc="70"/>
              <a:t> </a:t>
            </a:r>
            <a:r>
              <a:rPr dirty="0"/>
              <a:t>harmful</a:t>
            </a:r>
            <a:r>
              <a:rPr dirty="0" spc="75"/>
              <a:t> </a:t>
            </a:r>
            <a:r>
              <a:rPr dirty="0" spc="-10"/>
              <a:t>outcomes. </a:t>
            </a:r>
            <a:r>
              <a:rPr dirty="0"/>
              <a:t>Human</a:t>
            </a:r>
            <a:r>
              <a:rPr dirty="0" spc="85"/>
              <a:t> </a:t>
            </a:r>
            <a:r>
              <a:rPr dirty="0"/>
              <a:t>oversight:</a:t>
            </a:r>
            <a:r>
              <a:rPr dirty="0" spc="90"/>
              <a:t> </a:t>
            </a:r>
            <a:r>
              <a:rPr dirty="0"/>
              <a:t>people</a:t>
            </a:r>
            <a:r>
              <a:rPr dirty="0" spc="90"/>
              <a:t> </a:t>
            </a:r>
            <a:r>
              <a:rPr dirty="0"/>
              <a:t>retain</a:t>
            </a:r>
            <a:r>
              <a:rPr dirty="0" spc="85"/>
              <a:t> </a:t>
            </a:r>
            <a:r>
              <a:rPr dirty="0"/>
              <a:t>authority</a:t>
            </a:r>
            <a:r>
              <a:rPr dirty="0" spc="90"/>
              <a:t> </a:t>
            </a:r>
            <a:r>
              <a:rPr dirty="0"/>
              <a:t>over</a:t>
            </a:r>
            <a:r>
              <a:rPr dirty="0" spc="90"/>
              <a:t> </a:t>
            </a:r>
            <a:r>
              <a:rPr dirty="0"/>
              <a:t>high-impact</a:t>
            </a:r>
            <a:r>
              <a:rPr dirty="0" spc="90"/>
              <a:t> </a:t>
            </a:r>
            <a:r>
              <a:rPr dirty="0" spc="-10"/>
              <a:t>decisions.</a:t>
            </a:r>
          </a:p>
          <a:p>
            <a:pPr marL="252095">
              <a:lnSpc>
                <a:spcPct val="100000"/>
              </a:lnSpc>
              <a:spcBef>
                <a:spcPts val="944"/>
              </a:spcBef>
            </a:pPr>
            <a:r>
              <a:rPr dirty="0"/>
              <a:t>Lifecycle</a:t>
            </a:r>
            <a:r>
              <a:rPr dirty="0" spc="90"/>
              <a:t> </a:t>
            </a:r>
            <a:r>
              <a:rPr dirty="0"/>
              <a:t>management:</a:t>
            </a:r>
            <a:r>
              <a:rPr dirty="0" spc="95"/>
              <a:t> </a:t>
            </a:r>
            <a:r>
              <a:rPr dirty="0"/>
              <a:t>evaluate</a:t>
            </a:r>
            <a:r>
              <a:rPr dirty="0" spc="90"/>
              <a:t> </a:t>
            </a:r>
            <a:r>
              <a:rPr dirty="0"/>
              <a:t>before</a:t>
            </a:r>
            <a:r>
              <a:rPr dirty="0" spc="95"/>
              <a:t> </a:t>
            </a:r>
            <a:r>
              <a:rPr dirty="0"/>
              <a:t>launch</a:t>
            </a:r>
            <a:r>
              <a:rPr dirty="0" spc="95"/>
              <a:t> </a:t>
            </a:r>
            <a:r>
              <a:rPr dirty="0"/>
              <a:t>and</a:t>
            </a:r>
            <a:r>
              <a:rPr dirty="0" spc="90"/>
              <a:t> </a:t>
            </a:r>
            <a:r>
              <a:rPr dirty="0"/>
              <a:t>monitor</a:t>
            </a:r>
            <a:r>
              <a:rPr dirty="0" spc="95"/>
              <a:t> </a:t>
            </a:r>
            <a:r>
              <a:rPr dirty="0" spc="-10"/>
              <a:t>continuously.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4" y="421925"/>
            <a:ext cx="7735570" cy="475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4"/>
              <a:t>AI</a:t>
            </a:r>
            <a:r>
              <a:rPr dirty="0" spc="-290"/>
              <a:t> </a:t>
            </a:r>
            <a:r>
              <a:rPr dirty="0" spc="-120"/>
              <a:t>Value,</a:t>
            </a:r>
            <a:r>
              <a:rPr dirty="0" spc="-340"/>
              <a:t> </a:t>
            </a:r>
            <a:r>
              <a:rPr dirty="0" spc="-110"/>
              <a:t>Typical</a:t>
            </a:r>
            <a:r>
              <a:rPr dirty="0" spc="-285"/>
              <a:t> </a:t>
            </a:r>
            <a:r>
              <a:rPr dirty="0" spc="-160"/>
              <a:t>Risks</a:t>
            </a:r>
            <a:r>
              <a:rPr dirty="0" spc="-290"/>
              <a:t> </a:t>
            </a:r>
            <a:r>
              <a:rPr dirty="0" spc="-254"/>
              <a:t>&amp;</a:t>
            </a:r>
            <a:r>
              <a:rPr dirty="0" spc="-409"/>
              <a:t> </a:t>
            </a:r>
            <a:r>
              <a:rPr dirty="0" spc="-145"/>
              <a:t>Required</a:t>
            </a:r>
            <a:r>
              <a:rPr dirty="0" spc="-285"/>
              <a:t> </a:t>
            </a:r>
            <a:r>
              <a:rPr dirty="0" spc="-95"/>
              <a:t>Responses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1209674"/>
            <a:ext cx="533399" cy="6667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06512" y="1190497"/>
            <a:ext cx="1584960" cy="22339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10" b="1">
                <a:solidFill>
                  <a:srgbClr val="292641"/>
                </a:solidFill>
                <a:latin typeface="Tahoma"/>
                <a:cs typeface="Tahoma"/>
              </a:rPr>
              <a:t>Productivity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Use:</a:t>
            </a:r>
            <a:r>
              <a:rPr dirty="0" sz="1150" spc="5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drafting,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summarizing,</a:t>
            </a:r>
            <a:r>
              <a:rPr dirty="0" sz="1150" spc="1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research,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workflow</a:t>
            </a:r>
            <a:r>
              <a:rPr dirty="0" sz="1150" spc="9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automation.</a:t>
            </a:r>
            <a:endParaRPr sz="1150">
              <a:latin typeface="Arial MT"/>
              <a:cs typeface="Arial MT"/>
            </a:endParaRPr>
          </a:p>
          <a:p>
            <a:pPr marL="12700" marR="46355">
              <a:lnSpc>
                <a:spcPct val="135900"/>
              </a:lnSpc>
              <a:spcBef>
                <a:spcPts val="75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Risk: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inaccurate</a:t>
            </a:r>
            <a:r>
              <a:rPr dirty="0" sz="1150" spc="8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292641"/>
                </a:solidFill>
                <a:latin typeface="Arial MT"/>
                <a:cs typeface="Arial MT"/>
              </a:rPr>
              <a:t>or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fabricated</a:t>
            </a:r>
            <a:r>
              <a:rPr dirty="0" sz="1150" spc="10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content.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Response:</a:t>
            </a:r>
            <a:r>
              <a:rPr dirty="0" sz="1150" spc="1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verification,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source</a:t>
            </a:r>
            <a:r>
              <a:rPr dirty="0" sz="1150" spc="10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checking</a:t>
            </a:r>
            <a:r>
              <a:rPr dirty="0" sz="1150" spc="10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292641"/>
                </a:solidFill>
                <a:latin typeface="Arial MT"/>
                <a:cs typeface="Arial MT"/>
              </a:rPr>
              <a:t>and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human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review.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0399" y="1209674"/>
            <a:ext cx="533399" cy="6667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910855" y="1190497"/>
            <a:ext cx="1596390" cy="22339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40" b="1">
                <a:solidFill>
                  <a:srgbClr val="292641"/>
                </a:solidFill>
                <a:latin typeface="Tahoma"/>
                <a:cs typeface="Tahoma"/>
              </a:rPr>
              <a:t>Marketing</a:t>
            </a:r>
            <a:r>
              <a:rPr dirty="0" sz="1450" spc="-12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120" b="1">
                <a:solidFill>
                  <a:srgbClr val="292641"/>
                </a:solidFill>
                <a:latin typeface="Tahoma"/>
                <a:cs typeface="Tahoma"/>
              </a:rPr>
              <a:t>&amp;</a:t>
            </a:r>
            <a:r>
              <a:rPr dirty="0" sz="1450" spc="-19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20" b="1">
                <a:solidFill>
                  <a:srgbClr val="292641"/>
                </a:solidFill>
                <a:latin typeface="Tahoma"/>
                <a:cs typeface="Tahoma"/>
              </a:rPr>
              <a:t>Sales</a:t>
            </a:r>
            <a:endParaRPr sz="1450">
              <a:latin typeface="Tahoma"/>
              <a:cs typeface="Tahoma"/>
            </a:endParaRPr>
          </a:p>
          <a:p>
            <a:pPr marL="12700" marR="57150">
              <a:lnSpc>
                <a:spcPct val="137000"/>
              </a:lnSpc>
              <a:spcBef>
                <a:spcPts val="525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Use:</a:t>
            </a:r>
            <a:r>
              <a:rPr dirty="0" sz="1150" spc="5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personalization,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lead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scoring,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content.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Risk:</a:t>
            </a:r>
            <a:r>
              <a:rPr dirty="0" sz="1150" spc="5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mishandling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sensitive</a:t>
            </a:r>
            <a:r>
              <a:rPr dirty="0" sz="1150" spc="9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customer</a:t>
            </a:r>
            <a:r>
              <a:rPr dirty="0" sz="1150" spc="9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292641"/>
                </a:solidFill>
                <a:latin typeface="Arial MT"/>
                <a:cs typeface="Arial MT"/>
              </a:rPr>
              <a:t>or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brand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data.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Response: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approved</a:t>
            </a:r>
            <a:r>
              <a:rPr dirty="0" sz="1150" spc="10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platforms,</a:t>
            </a:r>
            <a:endParaRPr sz="1150">
              <a:latin typeface="Arial MT"/>
              <a:cs typeface="Arial MT"/>
            </a:endParaRPr>
          </a:p>
          <a:p>
            <a:pPr marL="12700" marR="66040">
              <a:lnSpc>
                <a:spcPct val="135900"/>
              </a:lnSpc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minimal</a:t>
            </a:r>
            <a:r>
              <a:rPr dirty="0" sz="1150" spc="8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data,</a:t>
            </a:r>
            <a:r>
              <a:rPr dirty="0" sz="1150" spc="9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approval workflows.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249" y="1209674"/>
            <a:ext cx="533399" cy="6667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515199" y="1190497"/>
            <a:ext cx="1635125" cy="17576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10" b="1">
                <a:solidFill>
                  <a:srgbClr val="292641"/>
                </a:solidFill>
                <a:latin typeface="Tahoma"/>
                <a:cs typeface="Tahoma"/>
              </a:rPr>
              <a:t>Analytics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7000"/>
              </a:lnSpc>
              <a:spcBef>
                <a:spcPts val="525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Use:</a:t>
            </a:r>
            <a:r>
              <a:rPr dirty="0" sz="1150" spc="5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forecasting,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decision</a:t>
            </a:r>
            <a:r>
              <a:rPr dirty="0" sz="1150" spc="10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support.</a:t>
            </a:r>
            <a:r>
              <a:rPr dirty="0" sz="1150" spc="1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Risk: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biased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data,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model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drift.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Response:</a:t>
            </a:r>
            <a:r>
              <a:rPr dirty="0" sz="1150" spc="114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validate</a:t>
            </a:r>
            <a:r>
              <a:rPr dirty="0" sz="1150" spc="12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292641"/>
                </a:solidFill>
                <a:latin typeface="Arial MT"/>
                <a:cs typeface="Arial MT"/>
              </a:rPr>
              <a:t>data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quality,</a:t>
            </a:r>
            <a:r>
              <a:rPr dirty="0" sz="1150" spc="2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test</a:t>
            </a:r>
            <a:r>
              <a:rPr dirty="0" sz="1150" spc="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outcomes,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monitor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performance.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10574" y="1209674"/>
            <a:ext cx="533399" cy="6667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119542" y="1190497"/>
            <a:ext cx="1628775" cy="19958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50" b="1">
                <a:solidFill>
                  <a:srgbClr val="292641"/>
                </a:solidFill>
                <a:latin typeface="Tahoma"/>
                <a:cs typeface="Tahoma"/>
              </a:rPr>
              <a:t>Customer</a:t>
            </a:r>
            <a:r>
              <a:rPr dirty="0" sz="1450" spc="-8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20" b="1">
                <a:solidFill>
                  <a:srgbClr val="292641"/>
                </a:solidFill>
                <a:latin typeface="Tahoma"/>
                <a:cs typeface="Tahoma"/>
              </a:rPr>
              <a:t>Support</a:t>
            </a:r>
            <a:endParaRPr sz="1450">
              <a:latin typeface="Tahoma"/>
              <a:cs typeface="Tahoma"/>
            </a:endParaRPr>
          </a:p>
          <a:p>
            <a:pPr marL="12700" marR="107314">
              <a:lnSpc>
                <a:spcPct val="135900"/>
              </a:lnSpc>
              <a:spcBef>
                <a:spcPts val="540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Use:</a:t>
            </a:r>
            <a:r>
              <a:rPr dirty="0" sz="1150" spc="5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virtual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assistants,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knowledge</a:t>
            </a:r>
            <a:r>
              <a:rPr dirty="0" sz="1150" spc="1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retrieval.</a:t>
            </a:r>
            <a:endParaRPr sz="1150">
              <a:latin typeface="Arial MT"/>
              <a:cs typeface="Arial MT"/>
            </a:endParaRPr>
          </a:p>
          <a:p>
            <a:pPr marL="12700" marR="132080">
              <a:lnSpc>
                <a:spcPts val="1950"/>
              </a:lnSpc>
              <a:spcBef>
                <a:spcPts val="85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Risk:</a:t>
            </a:r>
            <a:r>
              <a:rPr dirty="0" sz="1150" spc="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prompt</a:t>
            </a:r>
            <a:r>
              <a:rPr dirty="0" sz="1150" spc="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injection,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privacy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leakage.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Response:</a:t>
            </a:r>
            <a:r>
              <a:rPr dirty="0" sz="1150" spc="1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guardrails,</a:t>
            </a:r>
            <a:endParaRPr sz="1150">
              <a:latin typeface="Arial MT"/>
              <a:cs typeface="Arial MT"/>
            </a:endParaRPr>
          </a:p>
          <a:p>
            <a:pPr marL="12700" marR="73025">
              <a:lnSpc>
                <a:spcPct val="135900"/>
              </a:lnSpc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access</a:t>
            </a:r>
            <a:r>
              <a:rPr dirty="0" sz="11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restrictions,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logging</a:t>
            </a:r>
            <a:r>
              <a:rPr dirty="0" sz="1150" spc="8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150" spc="9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escalation.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0074" y="3752850"/>
            <a:ext cx="533399" cy="6667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06512" y="3733672"/>
            <a:ext cx="1710055" cy="22339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90" b="1">
                <a:solidFill>
                  <a:srgbClr val="292641"/>
                </a:solidFill>
                <a:latin typeface="Tahoma"/>
                <a:cs typeface="Tahoma"/>
              </a:rPr>
              <a:t>AI</a:t>
            </a:r>
            <a:r>
              <a:rPr dirty="0" sz="1450" spc="-18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10" b="1">
                <a:solidFill>
                  <a:srgbClr val="292641"/>
                </a:solidFill>
                <a:latin typeface="Tahoma"/>
                <a:cs typeface="Tahoma"/>
              </a:rPr>
              <a:t>Agents</a:t>
            </a:r>
            <a:endParaRPr sz="1450">
              <a:latin typeface="Tahoma"/>
              <a:cs typeface="Tahoma"/>
            </a:endParaRPr>
          </a:p>
          <a:p>
            <a:pPr algn="just" marL="12700">
              <a:lnSpc>
                <a:spcPct val="100000"/>
              </a:lnSpc>
              <a:spcBef>
                <a:spcPts val="1035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Use:</a:t>
            </a:r>
            <a:r>
              <a:rPr dirty="0" sz="1150" spc="4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tool</a:t>
            </a:r>
            <a:r>
              <a:rPr dirty="0" sz="1150" spc="4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use</a:t>
            </a:r>
            <a:r>
              <a:rPr dirty="0" sz="1150" spc="4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endParaRPr sz="11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495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workflow</a:t>
            </a:r>
            <a:r>
              <a:rPr dirty="0" sz="1150" spc="10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execution.</a:t>
            </a:r>
            <a:r>
              <a:rPr dirty="0" sz="1150" spc="10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Risk:</a:t>
            </a:r>
            <a:endParaRPr sz="1150">
              <a:latin typeface="Arial MT"/>
              <a:cs typeface="Arial MT"/>
            </a:endParaRPr>
          </a:p>
          <a:p>
            <a:pPr algn="just" marL="12700" marR="137795">
              <a:lnSpc>
                <a:spcPct val="135900"/>
              </a:lnSpc>
              <a:spcBef>
                <a:spcPts val="75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financial,</a:t>
            </a:r>
            <a:r>
              <a:rPr dirty="0" sz="1150" spc="12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operational</a:t>
            </a:r>
            <a:r>
              <a:rPr dirty="0" sz="1150" spc="1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292641"/>
                </a:solidFill>
                <a:latin typeface="Arial MT"/>
                <a:cs typeface="Arial MT"/>
              </a:rPr>
              <a:t>or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security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impact.</a:t>
            </a:r>
            <a:endParaRPr sz="1150">
              <a:latin typeface="Arial MT"/>
              <a:cs typeface="Arial MT"/>
            </a:endParaRPr>
          </a:p>
          <a:p>
            <a:pPr algn="just" marL="12700" marR="170815">
              <a:lnSpc>
                <a:spcPct val="135900"/>
              </a:lnSpc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Response:</a:t>
            </a:r>
            <a:r>
              <a:rPr dirty="0" sz="1150" spc="1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permission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boundaries,</a:t>
            </a:r>
            <a:r>
              <a:rPr dirty="0" sz="1150" spc="12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approvals,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rate</a:t>
            </a:r>
            <a:r>
              <a:rPr dirty="0" sz="1150" spc="5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limits</a:t>
            </a:r>
            <a:r>
              <a:rPr dirty="0" sz="1150" spc="5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150" spc="5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rollback procedures.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13" name="object 13">
            <a:hlinkClick r:id="rId7"/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277475" cy="6440805"/>
          </a:xfrm>
          <a:custGeom>
            <a:avLst/>
            <a:gdLst/>
            <a:ahLst/>
            <a:cxnLst/>
            <a:rect l="l" t="t" r="r" b="b"/>
            <a:pathLst>
              <a:path w="10277475" h="6440805">
                <a:moveTo>
                  <a:pt x="10277271" y="6440423"/>
                </a:moveTo>
                <a:lnTo>
                  <a:pt x="0" y="6440423"/>
                </a:lnTo>
                <a:lnTo>
                  <a:pt x="0" y="0"/>
                </a:lnTo>
                <a:lnTo>
                  <a:pt x="10277271" y="0"/>
                </a:lnTo>
                <a:lnTo>
                  <a:pt x="10277271" y="6440423"/>
                </a:lnTo>
                <a:close/>
              </a:path>
            </a:pathLst>
          </a:custGeom>
          <a:solidFill>
            <a:srgbClr val="FAFAF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6856" y="352400"/>
            <a:ext cx="6141085" cy="4305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50" spc="-130"/>
              <a:t>Risk</a:t>
            </a:r>
            <a:r>
              <a:rPr dirty="0" sz="2650" spc="-240"/>
              <a:t> </a:t>
            </a:r>
            <a:r>
              <a:rPr dirty="0" sz="2650" spc="-60"/>
              <a:t>Classification</a:t>
            </a:r>
            <a:r>
              <a:rPr dirty="0" sz="2650" spc="-240"/>
              <a:t> </a:t>
            </a:r>
            <a:r>
              <a:rPr dirty="0" sz="2650" spc="-235"/>
              <a:t>&amp;</a:t>
            </a:r>
            <a:r>
              <a:rPr dirty="0" sz="2650" spc="-345"/>
              <a:t> </a:t>
            </a:r>
            <a:r>
              <a:rPr dirty="0" sz="2650" spc="-160"/>
              <a:t>Minimum</a:t>
            </a:r>
            <a:r>
              <a:rPr dirty="0" sz="2650" spc="-240"/>
              <a:t> </a:t>
            </a:r>
            <a:r>
              <a:rPr dirty="0" sz="2650" spc="-30"/>
              <a:t>Controls</a:t>
            </a:r>
            <a:endParaRPr sz="26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8660" y="1433044"/>
            <a:ext cx="4150270" cy="36658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264565" y="1486732"/>
            <a:ext cx="1807845" cy="83693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600" spc="-75" b="1">
                <a:solidFill>
                  <a:srgbClr val="292641"/>
                </a:solidFill>
                <a:latin typeface="Tahoma"/>
                <a:cs typeface="Tahoma"/>
              </a:rPr>
              <a:t>High</a:t>
            </a:r>
            <a:r>
              <a:rPr dirty="0" sz="1600" spc="-14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600" spc="-20" b="1">
                <a:solidFill>
                  <a:srgbClr val="292641"/>
                </a:solidFill>
                <a:latin typeface="Tahoma"/>
                <a:cs typeface="Tahoma"/>
              </a:rPr>
              <a:t>Risk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04400"/>
              </a:lnSpc>
              <a:spcBef>
                <a:spcPts val="575"/>
              </a:spcBef>
            </a:pPr>
            <a:r>
              <a:rPr dirty="0" sz="1250">
                <a:solidFill>
                  <a:srgbClr val="292641"/>
                </a:solidFill>
                <a:latin typeface="Arial MT"/>
                <a:cs typeface="Arial MT"/>
              </a:rPr>
              <a:t>Hiring,</a:t>
            </a:r>
            <a:r>
              <a:rPr dirty="0" sz="1250" spc="7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92641"/>
                </a:solidFill>
                <a:latin typeface="Arial MT"/>
                <a:cs typeface="Arial MT"/>
              </a:rPr>
              <a:t>credit,</a:t>
            </a:r>
            <a:r>
              <a:rPr dirty="0" sz="1250" spc="7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92641"/>
                </a:solidFill>
                <a:latin typeface="Arial MT"/>
                <a:cs typeface="Arial MT"/>
              </a:rPr>
              <a:t>legal;</a:t>
            </a:r>
            <a:r>
              <a:rPr dirty="0" sz="1250" spc="7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292641"/>
                </a:solidFill>
                <a:latin typeface="Arial MT"/>
                <a:cs typeface="Arial MT"/>
              </a:rPr>
              <a:t>strict </a:t>
            </a:r>
            <a:r>
              <a:rPr dirty="0" sz="1250">
                <a:solidFill>
                  <a:srgbClr val="292641"/>
                </a:solidFill>
                <a:latin typeface="Arial MT"/>
                <a:cs typeface="Arial MT"/>
              </a:rPr>
              <a:t>review</a:t>
            </a:r>
            <a:r>
              <a:rPr dirty="0" sz="1250" spc="5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250" spc="5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292641"/>
                </a:solidFill>
                <a:latin typeface="Arial MT"/>
                <a:cs typeface="Arial MT"/>
              </a:rPr>
              <a:t>governance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7081" y="2870360"/>
            <a:ext cx="1934845" cy="83693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 indent="711835">
              <a:lnSpc>
                <a:spcPct val="100000"/>
              </a:lnSpc>
              <a:spcBef>
                <a:spcPts val="855"/>
              </a:spcBef>
            </a:pPr>
            <a:r>
              <a:rPr dirty="0" sz="1600" spc="-90" b="1">
                <a:solidFill>
                  <a:srgbClr val="292641"/>
                </a:solidFill>
                <a:latin typeface="Tahoma"/>
                <a:cs typeface="Tahoma"/>
              </a:rPr>
              <a:t>Medium</a:t>
            </a:r>
            <a:r>
              <a:rPr dirty="0" sz="1600" spc="-12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600" spc="-55" b="1">
                <a:solidFill>
                  <a:srgbClr val="292641"/>
                </a:solidFill>
                <a:latin typeface="Tahoma"/>
                <a:cs typeface="Tahoma"/>
              </a:rPr>
              <a:t>Risk</a:t>
            </a:r>
            <a:endParaRPr sz="1600">
              <a:latin typeface="Tahoma"/>
              <a:cs typeface="Tahoma"/>
            </a:endParaRPr>
          </a:p>
          <a:p>
            <a:pPr marL="464184" marR="5080" indent="-452120">
              <a:lnSpc>
                <a:spcPct val="104400"/>
              </a:lnSpc>
              <a:spcBef>
                <a:spcPts val="575"/>
              </a:spcBef>
            </a:pPr>
            <a:r>
              <a:rPr dirty="0" sz="1250">
                <a:solidFill>
                  <a:srgbClr val="292641"/>
                </a:solidFill>
                <a:latin typeface="Arial MT"/>
                <a:cs typeface="Arial MT"/>
              </a:rPr>
              <a:t>Internal</a:t>
            </a:r>
            <a:r>
              <a:rPr dirty="0" sz="1250" spc="10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92641"/>
                </a:solidFill>
                <a:latin typeface="Arial MT"/>
                <a:cs typeface="Arial MT"/>
              </a:rPr>
              <a:t>assistants;</a:t>
            </a:r>
            <a:r>
              <a:rPr dirty="0" sz="1250" spc="10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292641"/>
                </a:solidFill>
                <a:latin typeface="Arial MT"/>
                <a:cs typeface="Arial MT"/>
              </a:rPr>
              <a:t>access </a:t>
            </a:r>
            <a:r>
              <a:rPr dirty="0" sz="1250">
                <a:solidFill>
                  <a:srgbClr val="292641"/>
                </a:solidFill>
                <a:latin typeface="Arial MT"/>
                <a:cs typeface="Arial MT"/>
              </a:rPr>
              <a:t>controls</a:t>
            </a:r>
            <a:r>
              <a:rPr dirty="0" sz="1250" spc="5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2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292641"/>
                </a:solidFill>
                <a:latin typeface="Arial MT"/>
                <a:cs typeface="Arial MT"/>
              </a:rPr>
              <a:t>logging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64565" y="3584782"/>
            <a:ext cx="1708150" cy="83693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600" spc="-90" b="1">
                <a:solidFill>
                  <a:srgbClr val="292641"/>
                </a:solidFill>
                <a:latin typeface="Tahoma"/>
                <a:cs typeface="Tahoma"/>
              </a:rPr>
              <a:t>Low</a:t>
            </a:r>
            <a:r>
              <a:rPr dirty="0" sz="1600" spc="-16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600" spc="-20" b="1">
                <a:solidFill>
                  <a:srgbClr val="292641"/>
                </a:solidFill>
                <a:latin typeface="Tahoma"/>
                <a:cs typeface="Tahoma"/>
              </a:rPr>
              <a:t>Risk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04400"/>
              </a:lnSpc>
              <a:spcBef>
                <a:spcPts val="575"/>
              </a:spcBef>
            </a:pPr>
            <a:r>
              <a:rPr dirty="0" sz="1250">
                <a:solidFill>
                  <a:srgbClr val="292641"/>
                </a:solidFill>
                <a:latin typeface="Arial MT"/>
                <a:cs typeface="Arial MT"/>
              </a:rPr>
              <a:t>Public</a:t>
            </a:r>
            <a:r>
              <a:rPr dirty="0" sz="12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92641"/>
                </a:solidFill>
                <a:latin typeface="Arial MT"/>
                <a:cs typeface="Arial MT"/>
              </a:rPr>
              <a:t>drafting;</a:t>
            </a:r>
            <a:r>
              <a:rPr dirty="0" sz="1250" spc="8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292641"/>
                </a:solidFill>
                <a:latin typeface="Arial MT"/>
                <a:cs typeface="Arial MT"/>
              </a:rPr>
              <a:t>minimal </a:t>
            </a:r>
            <a:r>
              <a:rPr dirty="0" sz="1250">
                <a:solidFill>
                  <a:srgbClr val="292641"/>
                </a:solidFill>
                <a:latin typeface="Arial MT"/>
                <a:cs typeface="Arial MT"/>
              </a:rPr>
              <a:t>controls,</a:t>
            </a:r>
            <a:r>
              <a:rPr dirty="0" sz="1250" spc="9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292641"/>
                </a:solidFill>
                <a:latin typeface="Arial MT"/>
                <a:cs typeface="Arial MT"/>
              </a:rPr>
              <a:t>transparency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6856" y="5375587"/>
            <a:ext cx="9010015" cy="67691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just" marL="12700" marR="5080">
              <a:lnSpc>
                <a:spcPct val="136500"/>
              </a:lnSpc>
              <a:spcBef>
                <a:spcPts val="60"/>
              </a:spcBef>
            </a:pP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Assess</a:t>
            </a:r>
            <a:r>
              <a:rPr dirty="0" sz="1050" spc="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every</a:t>
            </a:r>
            <a:r>
              <a:rPr dirty="0" sz="1050" spc="-5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AI</a:t>
            </a:r>
            <a:r>
              <a:rPr dirty="0" sz="1050" spc="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use</a:t>
            </a:r>
            <a:r>
              <a:rPr dirty="0" sz="1050" spc="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case</a:t>
            </a:r>
            <a:r>
              <a:rPr dirty="0" sz="1050" spc="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before</a:t>
            </a:r>
            <a:r>
              <a:rPr dirty="0" sz="1050" spc="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deployment.</a:t>
            </a:r>
            <a:r>
              <a:rPr dirty="0" sz="1050" spc="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Risk</a:t>
            </a:r>
            <a:r>
              <a:rPr dirty="0" sz="1050" spc="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increases</a:t>
            </a:r>
            <a:r>
              <a:rPr dirty="0" sz="1050" spc="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when</a:t>
            </a:r>
            <a:r>
              <a:rPr dirty="0" sz="1050" spc="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systems</a:t>
            </a:r>
            <a:r>
              <a:rPr dirty="0" sz="1050" spc="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process</a:t>
            </a:r>
            <a:r>
              <a:rPr dirty="0" sz="1050" spc="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restricted</a:t>
            </a:r>
            <a:r>
              <a:rPr dirty="0" sz="1050" spc="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information,</a:t>
            </a:r>
            <a:r>
              <a:rPr dirty="0" sz="1050" spc="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affect</a:t>
            </a:r>
            <a:r>
              <a:rPr dirty="0" sz="1050" spc="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individuals,</a:t>
            </a:r>
            <a:r>
              <a:rPr dirty="0" sz="1050" spc="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act</a:t>
            </a:r>
            <a:r>
              <a:rPr dirty="0" sz="1050" spc="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autonomously,</a:t>
            </a:r>
            <a:r>
              <a:rPr dirty="0" sz="1050" spc="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create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external communications, or</a:t>
            </a:r>
            <a:r>
              <a:rPr dirty="0" sz="1050" spc="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support regulated/high-impact decisions.</a:t>
            </a:r>
            <a:r>
              <a:rPr dirty="0" sz="1050" spc="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Restricted or</a:t>
            </a:r>
            <a:r>
              <a:rPr dirty="0" sz="1050" spc="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prohibited uses require</a:t>
            </a:r>
            <a:r>
              <a:rPr dirty="0" sz="1050" spc="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explicit legal, ethics,</a:t>
            </a:r>
            <a:r>
              <a:rPr dirty="0" sz="1050" spc="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security and</a:t>
            </a:r>
            <a:r>
              <a:rPr dirty="0" sz="1050" spc="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executive approval.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9" name="object 9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14067" y="5977946"/>
            <a:ext cx="1577561" cy="3768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0"/>
            <a:ext cx="4286250" cy="6438900"/>
            <a:chOff x="7143750" y="0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49" cy="6438899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5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7374" y="498125"/>
            <a:ext cx="5034915" cy="942340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55"/>
              </a:spcBef>
            </a:pPr>
            <a:r>
              <a:rPr dirty="0" spc="-135"/>
              <a:t>Secure</a:t>
            </a:r>
            <a:r>
              <a:rPr dirty="0" spc="-365"/>
              <a:t> </a:t>
            </a:r>
            <a:r>
              <a:rPr dirty="0" spc="-204"/>
              <a:t>AI</a:t>
            </a:r>
            <a:r>
              <a:rPr dirty="0" spc="-275"/>
              <a:t> </a:t>
            </a:r>
            <a:r>
              <a:rPr dirty="0" spc="-70"/>
              <a:t>Operating</a:t>
            </a:r>
            <a:r>
              <a:rPr dirty="0" spc="-270"/>
              <a:t> </a:t>
            </a:r>
            <a:r>
              <a:rPr dirty="0" spc="-114"/>
              <a:t>Model</a:t>
            </a:r>
            <a:r>
              <a:rPr dirty="0" spc="-275"/>
              <a:t> </a:t>
            </a:r>
            <a:r>
              <a:rPr dirty="0" spc="-305"/>
              <a:t>&amp; </a:t>
            </a:r>
            <a:r>
              <a:rPr dirty="0" spc="-10"/>
              <a:t>Roles</a:t>
            </a: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1745" y="1839615"/>
            <a:ext cx="391435" cy="39286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49945" y="1828673"/>
            <a:ext cx="2190750" cy="10909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55" b="1">
                <a:solidFill>
                  <a:srgbClr val="292641"/>
                </a:solidFill>
                <a:latin typeface="Tahoma"/>
                <a:cs typeface="Tahoma"/>
              </a:rPr>
              <a:t>Executive</a:t>
            </a:r>
            <a:r>
              <a:rPr dirty="0" sz="1450" spc="-9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10" b="1">
                <a:solidFill>
                  <a:srgbClr val="292641"/>
                </a:solidFill>
                <a:latin typeface="Tahoma"/>
                <a:cs typeface="Tahoma"/>
              </a:rPr>
              <a:t>Sponsor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5900"/>
              </a:lnSpc>
              <a:spcBef>
                <a:spcPts val="990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Sets</a:t>
            </a:r>
            <a:r>
              <a:rPr dirty="0" sz="1150" spc="3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strategy,</a:t>
            </a:r>
            <a:r>
              <a:rPr dirty="0" sz="1150" spc="3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funds</a:t>
            </a:r>
            <a:r>
              <a:rPr dirty="0" sz="1150" spc="3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the</a:t>
            </a:r>
            <a:r>
              <a:rPr dirty="0" sz="1150" spc="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program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150" spc="114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accepts</a:t>
            </a:r>
            <a:r>
              <a:rPr dirty="0" sz="1150" spc="114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residual</a:t>
            </a:r>
            <a:r>
              <a:rPr dirty="0" sz="1150" spc="114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high-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level risks.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4379" y="3239718"/>
            <a:ext cx="327025" cy="391795"/>
            <a:chOff x="624379" y="3239718"/>
            <a:chExt cx="327025" cy="391795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6675" y="3239718"/>
              <a:ext cx="322429" cy="7232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32685" y="3303345"/>
              <a:ext cx="309880" cy="320040"/>
            </a:xfrm>
            <a:custGeom>
              <a:avLst/>
              <a:gdLst/>
              <a:ahLst/>
              <a:cxnLst/>
              <a:rect l="l" t="t" r="r" b="b"/>
              <a:pathLst>
                <a:path w="309880" h="320039">
                  <a:moveTo>
                    <a:pt x="159325" y="317374"/>
                  </a:moveTo>
                  <a:lnTo>
                    <a:pt x="195023" y="292989"/>
                  </a:lnTo>
                  <a:lnTo>
                    <a:pt x="231355" y="260172"/>
                  </a:lnTo>
                  <a:lnTo>
                    <a:pt x="260647" y="224933"/>
                  </a:lnTo>
                  <a:lnTo>
                    <a:pt x="283636" y="183816"/>
                  </a:lnTo>
                  <a:lnTo>
                    <a:pt x="297696" y="143777"/>
                  </a:lnTo>
                  <a:lnTo>
                    <a:pt x="306418" y="96906"/>
                  </a:lnTo>
                  <a:lnTo>
                    <a:pt x="309533" y="64428"/>
                  </a:lnTo>
                  <a:lnTo>
                    <a:pt x="309834" y="39793"/>
                  </a:lnTo>
                </a:path>
                <a:path w="309880" h="320039">
                  <a:moveTo>
                    <a:pt x="309696" y="12826"/>
                  </a:moveTo>
                  <a:lnTo>
                    <a:pt x="309484" y="8654"/>
                  </a:lnTo>
                  <a:lnTo>
                    <a:pt x="308957" y="4508"/>
                  </a:lnTo>
                  <a:lnTo>
                    <a:pt x="308113" y="389"/>
                  </a:lnTo>
                </a:path>
                <a:path w="309880" h="320039">
                  <a:moveTo>
                    <a:pt x="554" y="5830"/>
                  </a:moveTo>
                  <a:lnTo>
                    <a:pt x="299" y="9732"/>
                  </a:lnTo>
                  <a:lnTo>
                    <a:pt x="113" y="16775"/>
                  </a:lnTo>
                  <a:lnTo>
                    <a:pt x="9" y="27490"/>
                  </a:lnTo>
                  <a:lnTo>
                    <a:pt x="0" y="42406"/>
                  </a:lnTo>
                  <a:lnTo>
                    <a:pt x="355" y="55060"/>
                  </a:lnTo>
                  <a:lnTo>
                    <a:pt x="3247" y="94782"/>
                  </a:lnTo>
                  <a:lnTo>
                    <a:pt x="9671" y="133450"/>
                  </a:lnTo>
                  <a:lnTo>
                    <a:pt x="23612" y="177070"/>
                  </a:lnTo>
                  <a:lnTo>
                    <a:pt x="42071" y="213525"/>
                  </a:lnTo>
                  <a:lnTo>
                    <a:pt x="65664" y="246566"/>
                  </a:lnTo>
                  <a:lnTo>
                    <a:pt x="96203" y="277745"/>
                  </a:lnTo>
                  <a:lnTo>
                    <a:pt x="126371" y="301768"/>
                  </a:lnTo>
                  <a:lnTo>
                    <a:pt x="154658" y="319725"/>
                  </a:lnTo>
                  <a:lnTo>
                    <a:pt x="158506" y="317696"/>
                  </a:lnTo>
                  <a:lnTo>
                    <a:pt x="159325" y="317374"/>
                  </a:lnTo>
                </a:path>
                <a:path w="309880" h="320039">
                  <a:moveTo>
                    <a:pt x="2295" y="0"/>
                  </a:moveTo>
                  <a:lnTo>
                    <a:pt x="554" y="5830"/>
                  </a:lnTo>
                </a:path>
                <a:path w="309880" h="320039">
                  <a:moveTo>
                    <a:pt x="309834" y="39793"/>
                  </a:moveTo>
                  <a:lnTo>
                    <a:pt x="309696" y="12826"/>
                  </a:lnTo>
                </a:path>
              </a:pathLst>
            </a:custGeom>
            <a:ln w="16611">
              <a:solidFill>
                <a:srgbClr val="5D4B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149945" y="3228847"/>
            <a:ext cx="2240915" cy="11004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50" b="1">
                <a:solidFill>
                  <a:srgbClr val="292641"/>
                </a:solidFill>
                <a:latin typeface="Tahoma"/>
                <a:cs typeface="Tahoma"/>
              </a:rPr>
              <a:t>Security</a:t>
            </a:r>
            <a:r>
              <a:rPr dirty="0" sz="1450" spc="-12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20" b="1">
                <a:solidFill>
                  <a:srgbClr val="292641"/>
                </a:solidFill>
                <a:latin typeface="Tahoma"/>
                <a:cs typeface="Tahoma"/>
              </a:rPr>
              <a:t>Team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8600"/>
              </a:lnSpc>
              <a:spcBef>
                <a:spcPts val="950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Defines</a:t>
            </a:r>
            <a:r>
              <a:rPr dirty="0" sz="1150" spc="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identity,</a:t>
            </a:r>
            <a:r>
              <a:rPr dirty="0" sz="1150" spc="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access,</a:t>
            </a:r>
            <a:r>
              <a:rPr dirty="0" sz="1150" spc="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network,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threat</a:t>
            </a:r>
            <a:r>
              <a:rPr dirty="0" sz="1150" spc="9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protection,</a:t>
            </a:r>
            <a:r>
              <a:rPr dirty="0" sz="1150" spc="9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monitoring</a:t>
            </a:r>
            <a:r>
              <a:rPr dirty="0" sz="1150" spc="9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292641"/>
                </a:solidFill>
                <a:latin typeface="Arial MT"/>
                <a:cs typeface="Arial MT"/>
              </a:rPr>
              <a:t>and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incident</a:t>
            </a:r>
            <a:r>
              <a:rPr dirty="0" sz="1150" spc="12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response.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1771" y="4681683"/>
            <a:ext cx="391660" cy="30783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49945" y="4629022"/>
            <a:ext cx="1734820" cy="11004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30" b="1">
                <a:solidFill>
                  <a:srgbClr val="292641"/>
                </a:solidFill>
                <a:latin typeface="Tahoma"/>
                <a:cs typeface="Tahoma"/>
              </a:rPr>
              <a:t>Privacy</a:t>
            </a:r>
            <a:r>
              <a:rPr dirty="0" sz="1450" spc="-12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120" b="1">
                <a:solidFill>
                  <a:srgbClr val="292641"/>
                </a:solidFill>
                <a:latin typeface="Tahoma"/>
                <a:cs typeface="Tahoma"/>
              </a:rPr>
              <a:t>&amp;</a:t>
            </a:r>
            <a:r>
              <a:rPr dirty="0" sz="1450" spc="-18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20" b="1">
                <a:solidFill>
                  <a:srgbClr val="292641"/>
                </a:solidFill>
                <a:latin typeface="Tahoma"/>
                <a:cs typeface="Tahoma"/>
              </a:rPr>
              <a:t>Legal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5900"/>
              </a:lnSpc>
              <a:spcBef>
                <a:spcPts val="1065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Reviews</a:t>
            </a:r>
            <a:r>
              <a:rPr dirty="0" sz="1150" spc="9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data</a:t>
            </a:r>
            <a:r>
              <a:rPr dirty="0" sz="1150" spc="9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processing,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contracts,</a:t>
            </a:r>
            <a:r>
              <a:rPr dirty="0" sz="1150" spc="9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retention</a:t>
            </a:r>
            <a:r>
              <a:rPr dirty="0" sz="1150" spc="10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292641"/>
                </a:solidFill>
                <a:latin typeface="Arial MT"/>
                <a:cs typeface="Arial MT"/>
              </a:rPr>
              <a:t>and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regulatory</a:t>
            </a:r>
            <a:r>
              <a:rPr dirty="0" sz="1150" spc="10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requirements.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781112" y="1839549"/>
            <a:ext cx="337820" cy="391795"/>
            <a:chOff x="3781112" y="1839549"/>
            <a:chExt cx="337820" cy="391795"/>
          </a:xfrm>
        </p:grpSpPr>
        <p:sp>
          <p:nvSpPr>
            <p:cNvPr id="15" name="object 15"/>
            <p:cNvSpPr/>
            <p:nvPr/>
          </p:nvSpPr>
          <p:spPr>
            <a:xfrm>
              <a:off x="3844193" y="2000307"/>
              <a:ext cx="266700" cy="221615"/>
            </a:xfrm>
            <a:custGeom>
              <a:avLst/>
              <a:gdLst/>
              <a:ahLst/>
              <a:cxnLst/>
              <a:rect l="l" t="t" r="r" b="b"/>
              <a:pathLst>
                <a:path w="266700" h="221614">
                  <a:moveTo>
                    <a:pt x="264791" y="91899"/>
                  </a:moveTo>
                  <a:lnTo>
                    <a:pt x="232205" y="112042"/>
                  </a:lnTo>
                  <a:lnTo>
                    <a:pt x="188825" y="125139"/>
                  </a:lnTo>
                  <a:lnTo>
                    <a:pt x="162058" y="129257"/>
                  </a:lnTo>
                  <a:lnTo>
                    <a:pt x="153664" y="130313"/>
                  </a:lnTo>
                </a:path>
                <a:path w="266700" h="221614">
                  <a:moveTo>
                    <a:pt x="265230" y="0"/>
                  </a:moveTo>
                  <a:lnTo>
                    <a:pt x="227782" y="23371"/>
                  </a:lnTo>
                  <a:lnTo>
                    <a:pt x="190746" y="33938"/>
                  </a:lnTo>
                  <a:lnTo>
                    <a:pt x="144827" y="40342"/>
                  </a:lnTo>
                  <a:lnTo>
                    <a:pt x="131101" y="41508"/>
                  </a:lnTo>
                  <a:lnTo>
                    <a:pt x="121848" y="41878"/>
                  </a:lnTo>
                </a:path>
                <a:path w="266700" h="221614">
                  <a:moveTo>
                    <a:pt x="86754" y="41808"/>
                  </a:moveTo>
                  <a:lnTo>
                    <a:pt x="68097" y="40288"/>
                  </a:lnTo>
                  <a:lnTo>
                    <a:pt x="50728" y="38444"/>
                  </a:lnTo>
                  <a:lnTo>
                    <a:pt x="34355" y="36240"/>
                  </a:lnTo>
                  <a:lnTo>
                    <a:pt x="18686" y="33640"/>
                  </a:lnTo>
                  <a:lnTo>
                    <a:pt x="0" y="28831"/>
                  </a:lnTo>
                </a:path>
                <a:path w="266700" h="221614">
                  <a:moveTo>
                    <a:pt x="266181" y="159293"/>
                  </a:moveTo>
                  <a:lnTo>
                    <a:pt x="246476" y="193339"/>
                  </a:lnTo>
                  <a:lnTo>
                    <a:pt x="204493" y="210744"/>
                  </a:lnTo>
                  <a:lnTo>
                    <a:pt x="166871" y="218383"/>
                  </a:lnTo>
                  <a:lnTo>
                    <a:pt x="156384" y="219900"/>
                  </a:lnTo>
                  <a:lnTo>
                    <a:pt x="143988" y="221071"/>
                  </a:lnTo>
                </a:path>
              </a:pathLst>
            </a:custGeom>
            <a:ln w="16619">
              <a:solidFill>
                <a:srgbClr val="5D4BE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81234" y="2127896"/>
              <a:ext cx="116197" cy="9929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789421" y="1847858"/>
              <a:ext cx="321310" cy="375285"/>
            </a:xfrm>
            <a:custGeom>
              <a:avLst/>
              <a:gdLst/>
              <a:ahLst/>
              <a:cxnLst/>
              <a:rect l="l" t="t" r="r" b="b"/>
              <a:pathLst>
                <a:path w="321310" h="375285">
                  <a:moveTo>
                    <a:pt x="141" y="79309"/>
                  </a:moveTo>
                  <a:lnTo>
                    <a:pt x="229" y="68974"/>
                  </a:lnTo>
                  <a:lnTo>
                    <a:pt x="247" y="59699"/>
                  </a:lnTo>
                  <a:lnTo>
                    <a:pt x="345" y="52045"/>
                  </a:lnTo>
                  <a:lnTo>
                    <a:pt x="28835" y="20561"/>
                  </a:lnTo>
                  <a:lnTo>
                    <a:pt x="65149" y="8901"/>
                  </a:lnTo>
                  <a:lnTo>
                    <a:pt x="104650" y="2754"/>
                  </a:lnTo>
                  <a:lnTo>
                    <a:pt x="150074" y="88"/>
                  </a:lnTo>
                  <a:lnTo>
                    <a:pt x="164855" y="0"/>
                  </a:lnTo>
                  <a:lnTo>
                    <a:pt x="179340" y="237"/>
                  </a:lnTo>
                  <a:lnTo>
                    <a:pt x="219599" y="3056"/>
                  </a:lnTo>
                  <a:lnTo>
                    <a:pt x="258505" y="9663"/>
                  </a:lnTo>
                  <a:lnTo>
                    <a:pt x="297133" y="22923"/>
                  </a:lnTo>
                  <a:lnTo>
                    <a:pt x="320734" y="60463"/>
                  </a:lnTo>
                  <a:lnTo>
                    <a:pt x="320855" y="72399"/>
                  </a:lnTo>
                  <a:lnTo>
                    <a:pt x="320912" y="87964"/>
                  </a:lnTo>
                </a:path>
                <a:path w="321310" h="375285">
                  <a:moveTo>
                    <a:pt x="320916" y="243382"/>
                  </a:moveTo>
                  <a:lnTo>
                    <a:pt x="320953" y="311743"/>
                  </a:lnTo>
                </a:path>
                <a:path w="321310" h="375285">
                  <a:moveTo>
                    <a:pt x="320903" y="151737"/>
                  </a:moveTo>
                  <a:lnTo>
                    <a:pt x="319562" y="244348"/>
                  </a:lnTo>
                </a:path>
                <a:path w="321310" h="375285">
                  <a:moveTo>
                    <a:pt x="320897" y="63856"/>
                  </a:moveTo>
                  <a:lnTo>
                    <a:pt x="305341" y="75036"/>
                  </a:lnTo>
                  <a:lnTo>
                    <a:pt x="288751" y="83935"/>
                  </a:lnTo>
                  <a:lnTo>
                    <a:pt x="271127" y="90553"/>
                  </a:lnTo>
                  <a:lnTo>
                    <a:pt x="252468" y="94889"/>
                  </a:lnTo>
                </a:path>
                <a:path w="321310" h="375285">
                  <a:moveTo>
                    <a:pt x="208435" y="282762"/>
                  </a:moveTo>
                  <a:lnTo>
                    <a:pt x="174360" y="284721"/>
                  </a:lnTo>
                  <a:lnTo>
                    <a:pt x="140282" y="284569"/>
                  </a:lnTo>
                  <a:lnTo>
                    <a:pt x="106202" y="281922"/>
                  </a:lnTo>
                  <a:lnTo>
                    <a:pt x="72123" y="276394"/>
                  </a:lnTo>
                </a:path>
                <a:path w="321310" h="375285">
                  <a:moveTo>
                    <a:pt x="72187" y="275970"/>
                  </a:moveTo>
                  <a:lnTo>
                    <a:pt x="52311" y="271578"/>
                  </a:lnTo>
                  <a:lnTo>
                    <a:pt x="33654" y="264549"/>
                  </a:lnTo>
                  <a:lnTo>
                    <a:pt x="16217" y="254884"/>
                  </a:lnTo>
                  <a:lnTo>
                    <a:pt x="0" y="242582"/>
                  </a:lnTo>
                </a:path>
                <a:path w="321310" h="375285">
                  <a:moveTo>
                    <a:pt x="198760" y="373521"/>
                  </a:moveTo>
                  <a:lnTo>
                    <a:pt x="173997" y="374823"/>
                  </a:lnTo>
                  <a:lnTo>
                    <a:pt x="149247" y="374926"/>
                  </a:lnTo>
                  <a:lnTo>
                    <a:pt x="124488" y="373701"/>
                  </a:lnTo>
                  <a:lnTo>
                    <a:pt x="99700" y="371018"/>
                  </a:lnTo>
                </a:path>
                <a:path w="321310" h="375285">
                  <a:moveTo>
                    <a:pt x="121" y="288347"/>
                  </a:moveTo>
                  <a:lnTo>
                    <a:pt x="141" y="79309"/>
                  </a:lnTo>
                </a:path>
                <a:path w="321310" h="375285">
                  <a:moveTo>
                    <a:pt x="176619" y="194328"/>
                  </a:moveTo>
                  <a:lnTo>
                    <a:pt x="141526" y="194257"/>
                  </a:lnTo>
                </a:path>
                <a:path w="321310" h="375285">
                  <a:moveTo>
                    <a:pt x="320912" y="87964"/>
                  </a:moveTo>
                  <a:lnTo>
                    <a:pt x="320002" y="152449"/>
                  </a:lnTo>
                </a:path>
                <a:path w="321310" h="375285">
                  <a:moveTo>
                    <a:pt x="54816" y="181100"/>
                  </a:moveTo>
                  <a:lnTo>
                    <a:pt x="39798" y="176353"/>
                  </a:lnTo>
                  <a:lnTo>
                    <a:pt x="25701" y="169890"/>
                  </a:lnTo>
                  <a:lnTo>
                    <a:pt x="12526" y="161710"/>
                  </a:lnTo>
                  <a:lnTo>
                    <a:pt x="272" y="151813"/>
                  </a:lnTo>
                </a:path>
                <a:path w="321310" h="375285">
                  <a:moveTo>
                    <a:pt x="252515" y="95170"/>
                  </a:moveTo>
                  <a:lnTo>
                    <a:pt x="207586" y="102296"/>
                  </a:lnTo>
                  <a:lnTo>
                    <a:pt x="162657" y="104964"/>
                  </a:lnTo>
                  <a:lnTo>
                    <a:pt x="117729" y="103040"/>
                  </a:lnTo>
                  <a:lnTo>
                    <a:pt x="72805" y="96387"/>
                  </a:lnTo>
                </a:path>
                <a:path w="321310" h="375285">
                  <a:moveTo>
                    <a:pt x="72854" y="96076"/>
                  </a:moveTo>
                  <a:lnTo>
                    <a:pt x="53258" y="91766"/>
                  </a:lnTo>
                  <a:lnTo>
                    <a:pt x="34616" y="85202"/>
                  </a:lnTo>
                  <a:lnTo>
                    <a:pt x="16928" y="76385"/>
                  </a:lnTo>
                  <a:lnTo>
                    <a:pt x="194" y="65314"/>
                  </a:lnTo>
                </a:path>
              </a:pathLst>
            </a:custGeom>
            <a:ln w="16619">
              <a:solidFill>
                <a:srgbClr val="5D4B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314180" y="1828673"/>
            <a:ext cx="2135505" cy="10909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b="1">
                <a:solidFill>
                  <a:srgbClr val="292641"/>
                </a:solidFill>
                <a:latin typeface="Tahoma"/>
                <a:cs typeface="Tahoma"/>
              </a:rPr>
              <a:t>Data</a:t>
            </a:r>
            <a:r>
              <a:rPr dirty="0" sz="1450" spc="-11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20" b="1">
                <a:solidFill>
                  <a:srgbClr val="292641"/>
                </a:solidFill>
                <a:latin typeface="Tahoma"/>
                <a:cs typeface="Tahoma"/>
              </a:rPr>
              <a:t>Owner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5900"/>
              </a:lnSpc>
              <a:spcBef>
                <a:spcPts val="990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Approves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access,</a:t>
            </a:r>
            <a:r>
              <a:rPr dirty="0" sz="1150" spc="9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ensures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classification</a:t>
            </a:r>
            <a:r>
              <a:rPr dirty="0" sz="1150" spc="1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150" spc="13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validates</a:t>
            </a:r>
            <a:r>
              <a:rPr dirty="0" sz="1150" spc="13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292641"/>
                </a:solidFill>
                <a:latin typeface="Arial MT"/>
                <a:cs typeface="Arial MT"/>
              </a:rPr>
              <a:t>data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quality.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762374" y="3273168"/>
            <a:ext cx="375285" cy="325120"/>
          </a:xfrm>
          <a:custGeom>
            <a:avLst/>
            <a:gdLst/>
            <a:ahLst/>
            <a:cxnLst/>
            <a:rect l="l" t="t" r="r" b="b"/>
            <a:pathLst>
              <a:path w="375285" h="325120">
                <a:moveTo>
                  <a:pt x="217289" y="214115"/>
                </a:moveTo>
                <a:lnTo>
                  <a:pt x="217826" y="211108"/>
                </a:lnTo>
                <a:lnTo>
                  <a:pt x="218193" y="205838"/>
                </a:lnTo>
                <a:lnTo>
                  <a:pt x="218431" y="195996"/>
                </a:lnTo>
                <a:lnTo>
                  <a:pt x="218583" y="179275"/>
                </a:lnTo>
                <a:lnTo>
                  <a:pt x="218037" y="169050"/>
                </a:lnTo>
                <a:lnTo>
                  <a:pt x="216516" y="164730"/>
                </a:lnTo>
                <a:lnTo>
                  <a:pt x="214087" y="161281"/>
                </a:lnTo>
                <a:lnTo>
                  <a:pt x="211962" y="159466"/>
                </a:lnTo>
                <a:lnTo>
                  <a:pt x="209423" y="157798"/>
                </a:lnTo>
                <a:lnTo>
                  <a:pt x="206471" y="156276"/>
                </a:lnTo>
              </a:path>
              <a:path w="375285" h="325120">
                <a:moveTo>
                  <a:pt x="374156" y="156735"/>
                </a:moveTo>
                <a:lnTo>
                  <a:pt x="339126" y="179039"/>
                </a:lnTo>
                <a:lnTo>
                  <a:pt x="333184" y="179272"/>
                </a:lnTo>
              </a:path>
              <a:path w="375285" h="325120">
                <a:moveTo>
                  <a:pt x="156347" y="172714"/>
                </a:moveTo>
                <a:lnTo>
                  <a:pt x="188600" y="155329"/>
                </a:lnTo>
                <a:lnTo>
                  <a:pt x="198050" y="155458"/>
                </a:lnTo>
                <a:lnTo>
                  <a:pt x="203348" y="155761"/>
                </a:lnTo>
                <a:lnTo>
                  <a:pt x="206471" y="156276"/>
                </a:lnTo>
              </a:path>
              <a:path w="375285" h="325120">
                <a:moveTo>
                  <a:pt x="110922" y="10196"/>
                </a:moveTo>
                <a:lnTo>
                  <a:pt x="108362" y="15161"/>
                </a:lnTo>
                <a:lnTo>
                  <a:pt x="107412" y="18466"/>
                </a:lnTo>
                <a:lnTo>
                  <a:pt x="106982" y="21667"/>
                </a:lnTo>
                <a:lnTo>
                  <a:pt x="106885" y="60293"/>
                </a:lnTo>
              </a:path>
              <a:path w="375285" h="325120">
                <a:moveTo>
                  <a:pt x="116715" y="4370"/>
                </a:moveTo>
                <a:lnTo>
                  <a:pt x="121703" y="1716"/>
                </a:lnTo>
                <a:lnTo>
                  <a:pt x="127530" y="242"/>
                </a:lnTo>
                <a:lnTo>
                  <a:pt x="131587" y="2"/>
                </a:lnTo>
                <a:lnTo>
                  <a:pt x="147404" y="0"/>
                </a:lnTo>
              </a:path>
              <a:path w="375285" h="325120">
                <a:moveTo>
                  <a:pt x="375046" y="292206"/>
                </a:moveTo>
                <a:lnTo>
                  <a:pt x="351821" y="323911"/>
                </a:lnTo>
                <a:lnTo>
                  <a:pt x="340798" y="324731"/>
                </a:lnTo>
                <a:lnTo>
                  <a:pt x="331966" y="324759"/>
                </a:lnTo>
              </a:path>
              <a:path w="375285" h="325120">
                <a:moveTo>
                  <a:pt x="33755" y="324746"/>
                </a:moveTo>
                <a:lnTo>
                  <a:pt x="691" y="301239"/>
                </a:lnTo>
                <a:lnTo>
                  <a:pt x="34" y="294954"/>
                </a:lnTo>
                <a:lnTo>
                  <a:pt x="10" y="281713"/>
                </a:lnTo>
              </a:path>
              <a:path w="375285" h="325120">
                <a:moveTo>
                  <a:pt x="375046" y="93285"/>
                </a:moveTo>
                <a:lnTo>
                  <a:pt x="350415" y="61084"/>
                </a:lnTo>
                <a:lnTo>
                  <a:pt x="345333" y="60382"/>
                </a:lnTo>
                <a:lnTo>
                  <a:pt x="332957" y="60339"/>
                </a:lnTo>
              </a:path>
              <a:path w="375285" h="325120">
                <a:moveTo>
                  <a:pt x="32765" y="60342"/>
                </a:moveTo>
                <a:lnTo>
                  <a:pt x="891" y="83815"/>
                </a:lnTo>
                <a:lnTo>
                  <a:pt x="67" y="89419"/>
                </a:lnTo>
                <a:lnTo>
                  <a:pt x="7" y="100140"/>
                </a:lnTo>
              </a:path>
              <a:path w="375285" h="325120">
                <a:moveTo>
                  <a:pt x="243494" y="90"/>
                </a:moveTo>
                <a:lnTo>
                  <a:pt x="267648" y="20551"/>
                </a:lnTo>
                <a:lnTo>
                  <a:pt x="267917" y="23345"/>
                </a:lnTo>
              </a:path>
              <a:path w="375285" h="325120">
                <a:moveTo>
                  <a:pt x="268049" y="49885"/>
                </a:moveTo>
                <a:lnTo>
                  <a:pt x="268039" y="60334"/>
                </a:lnTo>
              </a:path>
              <a:path w="375285" h="325120">
                <a:moveTo>
                  <a:pt x="375046" y="155866"/>
                </a:moveTo>
                <a:lnTo>
                  <a:pt x="375046" y="292206"/>
                </a:lnTo>
              </a:path>
              <a:path w="375285" h="325120">
                <a:moveTo>
                  <a:pt x="156180" y="179279"/>
                </a:moveTo>
                <a:lnTo>
                  <a:pt x="39944" y="179264"/>
                </a:lnTo>
              </a:path>
              <a:path w="375285" h="325120">
                <a:moveTo>
                  <a:pt x="156658" y="210992"/>
                </a:moveTo>
                <a:lnTo>
                  <a:pt x="156347" y="172714"/>
                </a:lnTo>
              </a:path>
              <a:path w="375285" h="325120">
                <a:moveTo>
                  <a:pt x="156658" y="210992"/>
                </a:moveTo>
                <a:lnTo>
                  <a:pt x="170619" y="225578"/>
                </a:lnTo>
                <a:lnTo>
                  <a:pt x="205666" y="225109"/>
                </a:lnTo>
                <a:lnTo>
                  <a:pt x="216562" y="215868"/>
                </a:lnTo>
                <a:lnTo>
                  <a:pt x="217289" y="214115"/>
                </a:lnTo>
              </a:path>
              <a:path w="375285" h="325120">
                <a:moveTo>
                  <a:pt x="374156" y="156735"/>
                </a:moveTo>
                <a:lnTo>
                  <a:pt x="375046" y="93285"/>
                </a:lnTo>
              </a:path>
              <a:path w="375285" h="325120">
                <a:moveTo>
                  <a:pt x="3174" y="159133"/>
                </a:moveTo>
                <a:lnTo>
                  <a:pt x="562" y="148792"/>
                </a:lnTo>
              </a:path>
              <a:path w="375285" h="325120">
                <a:moveTo>
                  <a:pt x="110922" y="10196"/>
                </a:moveTo>
                <a:lnTo>
                  <a:pt x="112117" y="8616"/>
                </a:lnTo>
                <a:lnTo>
                  <a:pt x="113531" y="7062"/>
                </a:lnTo>
                <a:lnTo>
                  <a:pt x="114520" y="6069"/>
                </a:lnTo>
                <a:lnTo>
                  <a:pt x="115581" y="5172"/>
                </a:lnTo>
                <a:lnTo>
                  <a:pt x="116715" y="4370"/>
                </a:lnTo>
              </a:path>
              <a:path w="375285" h="325120">
                <a:moveTo>
                  <a:pt x="333184" y="179272"/>
                </a:moveTo>
                <a:lnTo>
                  <a:pt x="218583" y="179275"/>
                </a:lnTo>
              </a:path>
              <a:path w="375285" h="325120">
                <a:moveTo>
                  <a:pt x="331966" y="324759"/>
                </a:moveTo>
                <a:lnTo>
                  <a:pt x="33755" y="324746"/>
                </a:lnTo>
              </a:path>
              <a:path w="375285" h="325120">
                <a:moveTo>
                  <a:pt x="10" y="281713"/>
                </a:moveTo>
                <a:lnTo>
                  <a:pt x="0" y="156111"/>
                </a:lnTo>
              </a:path>
              <a:path w="375285" h="325120">
                <a:moveTo>
                  <a:pt x="39928" y="179521"/>
                </a:moveTo>
                <a:lnTo>
                  <a:pt x="7789" y="164869"/>
                </a:lnTo>
                <a:lnTo>
                  <a:pt x="3683" y="158789"/>
                </a:lnTo>
              </a:path>
              <a:path w="375285" h="325120">
                <a:moveTo>
                  <a:pt x="147404" y="0"/>
                </a:moveTo>
                <a:lnTo>
                  <a:pt x="243494" y="90"/>
                </a:lnTo>
              </a:path>
              <a:path w="375285" h="325120">
                <a:moveTo>
                  <a:pt x="332957" y="60339"/>
                </a:moveTo>
                <a:lnTo>
                  <a:pt x="32765" y="60342"/>
                </a:lnTo>
              </a:path>
              <a:path w="375285" h="325120">
                <a:moveTo>
                  <a:pt x="7" y="100140"/>
                </a:moveTo>
                <a:lnTo>
                  <a:pt x="562" y="148792"/>
                </a:lnTo>
              </a:path>
              <a:path w="375285" h="325120">
                <a:moveTo>
                  <a:pt x="267917" y="23345"/>
                </a:moveTo>
                <a:lnTo>
                  <a:pt x="268049" y="49885"/>
                </a:lnTo>
              </a:path>
            </a:pathLst>
          </a:custGeom>
          <a:ln w="16611">
            <a:solidFill>
              <a:srgbClr val="5D4B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314180" y="3228847"/>
            <a:ext cx="2152015" cy="8623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75" b="1">
                <a:solidFill>
                  <a:srgbClr val="292641"/>
                </a:solidFill>
                <a:latin typeface="Tahoma"/>
                <a:cs typeface="Tahoma"/>
              </a:rPr>
              <a:t>Business</a:t>
            </a:r>
            <a:r>
              <a:rPr dirty="0" sz="1450" spc="-9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20" b="1">
                <a:solidFill>
                  <a:srgbClr val="292641"/>
                </a:solidFill>
                <a:latin typeface="Tahoma"/>
                <a:cs typeface="Tahoma"/>
              </a:rPr>
              <a:t>Owner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41300"/>
              </a:lnSpc>
              <a:spcBef>
                <a:spcPts val="915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Defines</a:t>
            </a:r>
            <a:r>
              <a:rPr dirty="0" sz="1150" spc="10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value,</a:t>
            </a:r>
            <a:r>
              <a:rPr dirty="0" sz="1150" spc="1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validates</a:t>
            </a:r>
            <a:r>
              <a:rPr dirty="0" sz="1150" spc="1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outputs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maintains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human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oversight.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775686" y="4401798"/>
            <a:ext cx="347980" cy="391795"/>
            <a:chOff x="3775686" y="4401798"/>
            <a:chExt cx="347980" cy="391795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75686" y="4401798"/>
              <a:ext cx="347984" cy="39163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831651" y="4618144"/>
              <a:ext cx="263525" cy="167005"/>
            </a:xfrm>
            <a:custGeom>
              <a:avLst/>
              <a:gdLst/>
              <a:ahLst/>
              <a:cxnLst/>
              <a:rect l="l" t="t" r="r" b="b"/>
              <a:pathLst>
                <a:path w="263525" h="167004">
                  <a:moveTo>
                    <a:pt x="0" y="166977"/>
                  </a:moveTo>
                  <a:lnTo>
                    <a:pt x="263394" y="166917"/>
                  </a:lnTo>
                </a:path>
                <a:path w="263525" h="167004">
                  <a:moveTo>
                    <a:pt x="165308" y="6006"/>
                  </a:moveTo>
                  <a:lnTo>
                    <a:pt x="116834" y="0"/>
                  </a:lnTo>
                </a:path>
              </a:pathLst>
            </a:custGeom>
            <a:ln w="16619">
              <a:solidFill>
                <a:srgbClr val="5D4B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314180" y="4390897"/>
            <a:ext cx="809625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30" b="1">
                <a:solidFill>
                  <a:srgbClr val="292641"/>
                </a:solidFill>
                <a:latin typeface="Tahoma"/>
                <a:cs typeface="Tahoma"/>
              </a:rPr>
              <a:t>End</a:t>
            </a:r>
            <a:r>
              <a:rPr dirty="0" sz="1450" spc="-13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450" spc="-20" b="1">
                <a:solidFill>
                  <a:srgbClr val="292641"/>
                </a:solidFill>
                <a:latin typeface="Tahoma"/>
                <a:cs typeface="Tahoma"/>
              </a:rPr>
              <a:t>User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14180" y="4751228"/>
            <a:ext cx="2210435" cy="7397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Uses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approved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tools,</a:t>
            </a:r>
            <a:r>
              <a:rPr dirty="0" sz="1150" spc="8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protects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data,</a:t>
            </a:r>
            <a:r>
              <a:rPr dirty="0" sz="1150" spc="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verifies</a:t>
            </a:r>
            <a:r>
              <a:rPr dirty="0" sz="1150" spc="7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outputs</a:t>
            </a:r>
            <a:r>
              <a:rPr dirty="0" sz="1150" spc="7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150" spc="7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292641"/>
                </a:solidFill>
                <a:latin typeface="Arial MT"/>
                <a:cs typeface="Arial MT"/>
              </a:rPr>
              <a:t>reports concerns.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114280" cy="6439535"/>
          </a:xfrm>
          <a:custGeom>
            <a:avLst/>
            <a:gdLst/>
            <a:ahLst/>
            <a:cxnLst/>
            <a:rect l="l" t="t" r="r" b="b"/>
            <a:pathLst>
              <a:path w="10114280" h="6439535">
                <a:moveTo>
                  <a:pt x="10113730" y="6439075"/>
                </a:moveTo>
                <a:lnTo>
                  <a:pt x="0" y="6439075"/>
                </a:lnTo>
                <a:lnTo>
                  <a:pt x="0" y="0"/>
                </a:lnTo>
                <a:lnTo>
                  <a:pt x="10113730" y="0"/>
                </a:lnTo>
                <a:lnTo>
                  <a:pt x="10113730" y="6439075"/>
                </a:lnTo>
                <a:close/>
              </a:path>
            </a:pathLst>
          </a:custGeom>
          <a:solidFill>
            <a:srgbClr val="FAFAF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792648" cy="643907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310919" y="323361"/>
            <a:ext cx="4091304" cy="868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400"/>
              </a:lnSpc>
              <a:spcBef>
                <a:spcPts val="95"/>
              </a:spcBef>
            </a:pPr>
            <a:r>
              <a:rPr dirty="0" sz="2600" spc="-20"/>
              <a:t>Data</a:t>
            </a:r>
            <a:r>
              <a:rPr dirty="0" sz="2600" spc="-235"/>
              <a:t> </a:t>
            </a:r>
            <a:r>
              <a:rPr dirty="0" sz="2600" spc="-80"/>
              <a:t>Protection,</a:t>
            </a:r>
            <a:r>
              <a:rPr dirty="0" sz="2600" spc="-280"/>
              <a:t> </a:t>
            </a:r>
            <a:r>
              <a:rPr dirty="0" sz="2600" spc="-120"/>
              <a:t>Tooling</a:t>
            </a:r>
            <a:r>
              <a:rPr dirty="0" sz="2600" spc="-235"/>
              <a:t> </a:t>
            </a:r>
            <a:r>
              <a:rPr dirty="0" sz="2600" spc="-50"/>
              <a:t>&amp; </a:t>
            </a:r>
            <a:r>
              <a:rPr dirty="0" sz="2600" spc="-100"/>
              <a:t>Subscription</a:t>
            </a:r>
            <a:r>
              <a:rPr dirty="0" sz="2600" spc="-165"/>
              <a:t> </a:t>
            </a:r>
            <a:r>
              <a:rPr dirty="0" sz="2600" spc="-10"/>
              <a:t>Strategy</a:t>
            </a:r>
            <a:endParaRPr sz="2600"/>
          </a:p>
        </p:txBody>
      </p:sp>
      <p:grpSp>
        <p:nvGrpSpPr>
          <p:cNvPr id="5" name="object 5"/>
          <p:cNvGrpSpPr/>
          <p:nvPr/>
        </p:nvGrpSpPr>
        <p:grpSpPr>
          <a:xfrm>
            <a:off x="4323619" y="1390637"/>
            <a:ext cx="531495" cy="1618615"/>
            <a:chOff x="4323619" y="1390637"/>
            <a:chExt cx="531495" cy="1618615"/>
          </a:xfrm>
        </p:grpSpPr>
        <p:sp>
          <p:nvSpPr>
            <p:cNvPr id="6" name="object 6"/>
            <p:cNvSpPr/>
            <p:nvPr/>
          </p:nvSpPr>
          <p:spPr>
            <a:xfrm>
              <a:off x="4327833" y="1394930"/>
              <a:ext cx="522605" cy="1609725"/>
            </a:xfrm>
            <a:custGeom>
              <a:avLst/>
              <a:gdLst/>
              <a:ahLst/>
              <a:cxnLst/>
              <a:rect l="l" t="t" r="r" b="b"/>
              <a:pathLst>
                <a:path w="522604" h="1609725">
                  <a:moveTo>
                    <a:pt x="267685" y="1609611"/>
                  </a:moveTo>
                  <a:lnTo>
                    <a:pt x="254857" y="1609611"/>
                  </a:lnTo>
                  <a:lnTo>
                    <a:pt x="242052" y="1608982"/>
                  </a:lnTo>
                  <a:lnTo>
                    <a:pt x="204024" y="1603341"/>
                  </a:lnTo>
                  <a:lnTo>
                    <a:pt x="167242" y="1592183"/>
                  </a:lnTo>
                  <a:lnTo>
                    <a:pt x="132489" y="1575746"/>
                  </a:lnTo>
                  <a:lnTo>
                    <a:pt x="100530" y="1554392"/>
                  </a:lnTo>
                  <a:lnTo>
                    <a:pt x="72044" y="1528574"/>
                  </a:lnTo>
                  <a:lnTo>
                    <a:pt x="47660" y="1498862"/>
                  </a:lnTo>
                  <a:lnTo>
                    <a:pt x="27896" y="1465887"/>
                  </a:lnTo>
                  <a:lnTo>
                    <a:pt x="13187" y="1430376"/>
                  </a:lnTo>
                  <a:lnTo>
                    <a:pt x="3846" y="1393084"/>
                  </a:lnTo>
                  <a:lnTo>
                    <a:pt x="78" y="1354832"/>
                  </a:lnTo>
                  <a:lnTo>
                    <a:pt x="0" y="1348418"/>
                  </a:lnTo>
                  <a:lnTo>
                    <a:pt x="78" y="254778"/>
                  </a:lnTo>
                  <a:lnTo>
                    <a:pt x="3846" y="216527"/>
                  </a:lnTo>
                  <a:lnTo>
                    <a:pt x="13187" y="179234"/>
                  </a:lnTo>
                  <a:lnTo>
                    <a:pt x="27896" y="143723"/>
                  </a:lnTo>
                  <a:lnTo>
                    <a:pt x="47660" y="110748"/>
                  </a:lnTo>
                  <a:lnTo>
                    <a:pt x="72044" y="81036"/>
                  </a:lnTo>
                  <a:lnTo>
                    <a:pt x="100530" y="55219"/>
                  </a:lnTo>
                  <a:lnTo>
                    <a:pt x="132489" y="33864"/>
                  </a:lnTo>
                  <a:lnTo>
                    <a:pt x="167242" y="17427"/>
                  </a:lnTo>
                  <a:lnTo>
                    <a:pt x="204024" y="6269"/>
                  </a:lnTo>
                  <a:lnTo>
                    <a:pt x="242052" y="629"/>
                  </a:lnTo>
                  <a:lnTo>
                    <a:pt x="254857" y="0"/>
                  </a:lnTo>
                  <a:lnTo>
                    <a:pt x="267685" y="0"/>
                  </a:lnTo>
                  <a:lnTo>
                    <a:pt x="305936" y="3767"/>
                  </a:lnTo>
                  <a:lnTo>
                    <a:pt x="343229" y="13108"/>
                  </a:lnTo>
                  <a:lnTo>
                    <a:pt x="378740" y="27817"/>
                  </a:lnTo>
                  <a:lnTo>
                    <a:pt x="411715" y="47582"/>
                  </a:lnTo>
                  <a:lnTo>
                    <a:pt x="441427" y="71966"/>
                  </a:lnTo>
                  <a:lnTo>
                    <a:pt x="467244" y="100451"/>
                  </a:lnTo>
                  <a:lnTo>
                    <a:pt x="488599" y="132410"/>
                  </a:lnTo>
                  <a:lnTo>
                    <a:pt x="505036" y="167164"/>
                  </a:lnTo>
                  <a:lnTo>
                    <a:pt x="516193" y="203945"/>
                  </a:lnTo>
                  <a:lnTo>
                    <a:pt x="521835" y="241974"/>
                  </a:lnTo>
                  <a:lnTo>
                    <a:pt x="522464" y="1354832"/>
                  </a:lnTo>
                  <a:lnTo>
                    <a:pt x="521835" y="1367637"/>
                  </a:lnTo>
                  <a:lnTo>
                    <a:pt x="516193" y="1405665"/>
                  </a:lnTo>
                  <a:lnTo>
                    <a:pt x="505036" y="1442446"/>
                  </a:lnTo>
                  <a:lnTo>
                    <a:pt x="488598" y="1477200"/>
                  </a:lnTo>
                  <a:lnTo>
                    <a:pt x="467244" y="1509159"/>
                  </a:lnTo>
                  <a:lnTo>
                    <a:pt x="441427" y="1537645"/>
                  </a:lnTo>
                  <a:lnTo>
                    <a:pt x="411715" y="1562029"/>
                  </a:lnTo>
                  <a:lnTo>
                    <a:pt x="378740" y="1581793"/>
                  </a:lnTo>
                  <a:lnTo>
                    <a:pt x="343229" y="1596502"/>
                  </a:lnTo>
                  <a:lnTo>
                    <a:pt x="305936" y="1605843"/>
                  </a:lnTo>
                  <a:lnTo>
                    <a:pt x="267685" y="1609611"/>
                  </a:lnTo>
                  <a:close/>
                </a:path>
              </a:pathLst>
            </a:custGeom>
            <a:solidFill>
              <a:srgbClr val="E8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327833" y="1394851"/>
              <a:ext cx="522605" cy="1610360"/>
            </a:xfrm>
            <a:custGeom>
              <a:avLst/>
              <a:gdLst/>
              <a:ahLst/>
              <a:cxnLst/>
              <a:rect l="l" t="t" r="r" b="b"/>
              <a:pathLst>
                <a:path w="522604" h="1610360">
                  <a:moveTo>
                    <a:pt x="0" y="1348497"/>
                  </a:moveTo>
                  <a:lnTo>
                    <a:pt x="0" y="261271"/>
                  </a:lnTo>
                  <a:lnTo>
                    <a:pt x="78" y="254857"/>
                  </a:lnTo>
                  <a:lnTo>
                    <a:pt x="3846" y="216605"/>
                  </a:lnTo>
                  <a:lnTo>
                    <a:pt x="13187" y="179313"/>
                  </a:lnTo>
                  <a:lnTo>
                    <a:pt x="27896" y="143802"/>
                  </a:lnTo>
                  <a:lnTo>
                    <a:pt x="47660" y="110827"/>
                  </a:lnTo>
                  <a:lnTo>
                    <a:pt x="72044" y="81115"/>
                  </a:lnTo>
                  <a:lnTo>
                    <a:pt x="100530" y="55297"/>
                  </a:lnTo>
                  <a:lnTo>
                    <a:pt x="132489" y="33943"/>
                  </a:lnTo>
                  <a:lnTo>
                    <a:pt x="167242" y="17506"/>
                  </a:lnTo>
                  <a:lnTo>
                    <a:pt x="204024" y="6348"/>
                  </a:lnTo>
                  <a:lnTo>
                    <a:pt x="242052" y="707"/>
                  </a:lnTo>
                  <a:lnTo>
                    <a:pt x="261271" y="0"/>
                  </a:lnTo>
                  <a:lnTo>
                    <a:pt x="267685" y="78"/>
                  </a:lnTo>
                  <a:lnTo>
                    <a:pt x="305936" y="3846"/>
                  </a:lnTo>
                  <a:lnTo>
                    <a:pt x="343229" y="13187"/>
                  </a:lnTo>
                  <a:lnTo>
                    <a:pt x="378740" y="27896"/>
                  </a:lnTo>
                  <a:lnTo>
                    <a:pt x="411715" y="47660"/>
                  </a:lnTo>
                  <a:lnTo>
                    <a:pt x="441427" y="72044"/>
                  </a:lnTo>
                  <a:lnTo>
                    <a:pt x="467244" y="100530"/>
                  </a:lnTo>
                  <a:lnTo>
                    <a:pt x="488599" y="132489"/>
                  </a:lnTo>
                  <a:lnTo>
                    <a:pt x="505036" y="167242"/>
                  </a:lnTo>
                  <a:lnTo>
                    <a:pt x="516193" y="204024"/>
                  </a:lnTo>
                  <a:lnTo>
                    <a:pt x="521835" y="242053"/>
                  </a:lnTo>
                  <a:lnTo>
                    <a:pt x="522542" y="261271"/>
                  </a:lnTo>
                  <a:lnTo>
                    <a:pt x="522542" y="1348497"/>
                  </a:lnTo>
                  <a:lnTo>
                    <a:pt x="519714" y="1386833"/>
                  </a:lnTo>
                  <a:lnTo>
                    <a:pt x="511292" y="1424340"/>
                  </a:lnTo>
                  <a:lnTo>
                    <a:pt x="497457" y="1460205"/>
                  </a:lnTo>
                  <a:lnTo>
                    <a:pt x="478509" y="1493651"/>
                  </a:lnTo>
                  <a:lnTo>
                    <a:pt x="454860" y="1523956"/>
                  </a:lnTo>
                  <a:lnTo>
                    <a:pt x="427020" y="1550462"/>
                  </a:lnTo>
                  <a:lnTo>
                    <a:pt x="395591" y="1572597"/>
                  </a:lnTo>
                  <a:lnTo>
                    <a:pt x="361255" y="1589880"/>
                  </a:lnTo>
                  <a:lnTo>
                    <a:pt x="324754" y="1601938"/>
                  </a:lnTo>
                  <a:lnTo>
                    <a:pt x="286880" y="1608510"/>
                  </a:lnTo>
                  <a:lnTo>
                    <a:pt x="261271" y="1609768"/>
                  </a:lnTo>
                  <a:lnTo>
                    <a:pt x="254857" y="1609690"/>
                  </a:lnTo>
                  <a:lnTo>
                    <a:pt x="216605" y="1605922"/>
                  </a:lnTo>
                  <a:lnTo>
                    <a:pt x="179312" y="1596581"/>
                  </a:lnTo>
                  <a:lnTo>
                    <a:pt x="143801" y="1581872"/>
                  </a:lnTo>
                  <a:lnTo>
                    <a:pt x="110826" y="1562107"/>
                  </a:lnTo>
                  <a:lnTo>
                    <a:pt x="81115" y="1537723"/>
                  </a:lnTo>
                  <a:lnTo>
                    <a:pt x="55297" y="1509238"/>
                  </a:lnTo>
                  <a:lnTo>
                    <a:pt x="33943" y="1477278"/>
                  </a:lnTo>
                  <a:lnTo>
                    <a:pt x="17506" y="1442525"/>
                  </a:lnTo>
                  <a:lnTo>
                    <a:pt x="6348" y="1405743"/>
                  </a:lnTo>
                  <a:lnTo>
                    <a:pt x="707" y="1367715"/>
                  </a:lnTo>
                  <a:lnTo>
                    <a:pt x="0" y="1348497"/>
                  </a:lnTo>
                  <a:close/>
                </a:path>
              </a:pathLst>
            </a:custGeom>
            <a:ln w="8428">
              <a:solidFill>
                <a:srgbClr val="BDB8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4323619" y="3143684"/>
            <a:ext cx="531495" cy="1399540"/>
            <a:chOff x="4323619" y="3143684"/>
            <a:chExt cx="531495" cy="1399540"/>
          </a:xfrm>
        </p:grpSpPr>
        <p:sp>
          <p:nvSpPr>
            <p:cNvPr id="9" name="object 9"/>
            <p:cNvSpPr/>
            <p:nvPr/>
          </p:nvSpPr>
          <p:spPr>
            <a:xfrm>
              <a:off x="4327833" y="3147977"/>
              <a:ext cx="522605" cy="1390650"/>
            </a:xfrm>
            <a:custGeom>
              <a:avLst/>
              <a:gdLst/>
              <a:ahLst/>
              <a:cxnLst/>
              <a:rect l="l" t="t" r="r" b="b"/>
              <a:pathLst>
                <a:path w="522604" h="1390650">
                  <a:moveTo>
                    <a:pt x="267685" y="1390480"/>
                  </a:moveTo>
                  <a:lnTo>
                    <a:pt x="254857" y="1390480"/>
                  </a:lnTo>
                  <a:lnTo>
                    <a:pt x="242052" y="1389851"/>
                  </a:lnTo>
                  <a:lnTo>
                    <a:pt x="204024" y="1384210"/>
                  </a:lnTo>
                  <a:lnTo>
                    <a:pt x="167242" y="1373052"/>
                  </a:lnTo>
                  <a:lnTo>
                    <a:pt x="132489" y="1356615"/>
                  </a:lnTo>
                  <a:lnTo>
                    <a:pt x="100530" y="1335261"/>
                  </a:lnTo>
                  <a:lnTo>
                    <a:pt x="72044" y="1309443"/>
                  </a:lnTo>
                  <a:lnTo>
                    <a:pt x="47660" y="1279731"/>
                  </a:lnTo>
                  <a:lnTo>
                    <a:pt x="27896" y="1246755"/>
                  </a:lnTo>
                  <a:lnTo>
                    <a:pt x="13187" y="1211245"/>
                  </a:lnTo>
                  <a:lnTo>
                    <a:pt x="3846" y="1173953"/>
                  </a:lnTo>
                  <a:lnTo>
                    <a:pt x="78" y="1135701"/>
                  </a:lnTo>
                  <a:lnTo>
                    <a:pt x="0" y="1129287"/>
                  </a:lnTo>
                  <a:lnTo>
                    <a:pt x="78" y="254778"/>
                  </a:lnTo>
                  <a:lnTo>
                    <a:pt x="3846" y="216526"/>
                  </a:lnTo>
                  <a:lnTo>
                    <a:pt x="13187" y="179234"/>
                  </a:lnTo>
                  <a:lnTo>
                    <a:pt x="27896" y="143723"/>
                  </a:lnTo>
                  <a:lnTo>
                    <a:pt x="47660" y="110748"/>
                  </a:lnTo>
                  <a:lnTo>
                    <a:pt x="72044" y="81036"/>
                  </a:lnTo>
                  <a:lnTo>
                    <a:pt x="100530" y="55218"/>
                  </a:lnTo>
                  <a:lnTo>
                    <a:pt x="132489" y="33864"/>
                  </a:lnTo>
                  <a:lnTo>
                    <a:pt x="167242" y="17427"/>
                  </a:lnTo>
                  <a:lnTo>
                    <a:pt x="204024" y="6269"/>
                  </a:lnTo>
                  <a:lnTo>
                    <a:pt x="242052" y="629"/>
                  </a:lnTo>
                  <a:lnTo>
                    <a:pt x="254857" y="0"/>
                  </a:lnTo>
                  <a:lnTo>
                    <a:pt x="267685" y="0"/>
                  </a:lnTo>
                  <a:lnTo>
                    <a:pt x="305936" y="3767"/>
                  </a:lnTo>
                  <a:lnTo>
                    <a:pt x="343229" y="13108"/>
                  </a:lnTo>
                  <a:lnTo>
                    <a:pt x="378740" y="27817"/>
                  </a:lnTo>
                  <a:lnTo>
                    <a:pt x="411715" y="47581"/>
                  </a:lnTo>
                  <a:lnTo>
                    <a:pt x="441427" y="71966"/>
                  </a:lnTo>
                  <a:lnTo>
                    <a:pt x="467244" y="100451"/>
                  </a:lnTo>
                  <a:lnTo>
                    <a:pt x="488599" y="132410"/>
                  </a:lnTo>
                  <a:lnTo>
                    <a:pt x="505036" y="167163"/>
                  </a:lnTo>
                  <a:lnTo>
                    <a:pt x="516193" y="203945"/>
                  </a:lnTo>
                  <a:lnTo>
                    <a:pt x="521835" y="241974"/>
                  </a:lnTo>
                  <a:lnTo>
                    <a:pt x="522464" y="1135701"/>
                  </a:lnTo>
                  <a:lnTo>
                    <a:pt x="521835" y="1148506"/>
                  </a:lnTo>
                  <a:lnTo>
                    <a:pt x="516193" y="1186534"/>
                  </a:lnTo>
                  <a:lnTo>
                    <a:pt x="505036" y="1223316"/>
                  </a:lnTo>
                  <a:lnTo>
                    <a:pt x="488598" y="1258069"/>
                  </a:lnTo>
                  <a:lnTo>
                    <a:pt x="467244" y="1290028"/>
                  </a:lnTo>
                  <a:lnTo>
                    <a:pt x="441427" y="1318514"/>
                  </a:lnTo>
                  <a:lnTo>
                    <a:pt x="411715" y="1342898"/>
                  </a:lnTo>
                  <a:lnTo>
                    <a:pt x="378740" y="1362662"/>
                  </a:lnTo>
                  <a:lnTo>
                    <a:pt x="343229" y="1377371"/>
                  </a:lnTo>
                  <a:lnTo>
                    <a:pt x="305936" y="1386712"/>
                  </a:lnTo>
                  <a:lnTo>
                    <a:pt x="267685" y="1390480"/>
                  </a:lnTo>
                  <a:close/>
                </a:path>
              </a:pathLst>
            </a:custGeom>
            <a:solidFill>
              <a:srgbClr val="E8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327833" y="3147898"/>
              <a:ext cx="522605" cy="1390650"/>
            </a:xfrm>
            <a:custGeom>
              <a:avLst/>
              <a:gdLst/>
              <a:ahLst/>
              <a:cxnLst/>
              <a:rect l="l" t="t" r="r" b="b"/>
              <a:pathLst>
                <a:path w="522604" h="1390650">
                  <a:moveTo>
                    <a:pt x="0" y="1129366"/>
                  </a:moveTo>
                  <a:lnTo>
                    <a:pt x="0" y="261271"/>
                  </a:lnTo>
                  <a:lnTo>
                    <a:pt x="78" y="254857"/>
                  </a:lnTo>
                  <a:lnTo>
                    <a:pt x="3846" y="216605"/>
                  </a:lnTo>
                  <a:lnTo>
                    <a:pt x="13187" y="179312"/>
                  </a:lnTo>
                  <a:lnTo>
                    <a:pt x="27896" y="143801"/>
                  </a:lnTo>
                  <a:lnTo>
                    <a:pt x="47660" y="110827"/>
                  </a:lnTo>
                  <a:lnTo>
                    <a:pt x="72044" y="81115"/>
                  </a:lnTo>
                  <a:lnTo>
                    <a:pt x="100530" y="55297"/>
                  </a:lnTo>
                  <a:lnTo>
                    <a:pt x="132489" y="33943"/>
                  </a:lnTo>
                  <a:lnTo>
                    <a:pt x="167242" y="17506"/>
                  </a:lnTo>
                  <a:lnTo>
                    <a:pt x="204024" y="6348"/>
                  </a:lnTo>
                  <a:lnTo>
                    <a:pt x="242052" y="707"/>
                  </a:lnTo>
                  <a:lnTo>
                    <a:pt x="261271" y="0"/>
                  </a:lnTo>
                  <a:lnTo>
                    <a:pt x="267685" y="78"/>
                  </a:lnTo>
                  <a:lnTo>
                    <a:pt x="305936" y="3846"/>
                  </a:lnTo>
                  <a:lnTo>
                    <a:pt x="343229" y="13187"/>
                  </a:lnTo>
                  <a:lnTo>
                    <a:pt x="378740" y="27896"/>
                  </a:lnTo>
                  <a:lnTo>
                    <a:pt x="411715" y="47660"/>
                  </a:lnTo>
                  <a:lnTo>
                    <a:pt x="441427" y="72044"/>
                  </a:lnTo>
                  <a:lnTo>
                    <a:pt x="467244" y="100530"/>
                  </a:lnTo>
                  <a:lnTo>
                    <a:pt x="488599" y="132488"/>
                  </a:lnTo>
                  <a:lnTo>
                    <a:pt x="505036" y="167242"/>
                  </a:lnTo>
                  <a:lnTo>
                    <a:pt x="516193" y="204024"/>
                  </a:lnTo>
                  <a:lnTo>
                    <a:pt x="521835" y="242053"/>
                  </a:lnTo>
                  <a:lnTo>
                    <a:pt x="522542" y="261271"/>
                  </a:lnTo>
                  <a:lnTo>
                    <a:pt x="522542" y="1129366"/>
                  </a:lnTo>
                  <a:lnTo>
                    <a:pt x="519714" y="1167703"/>
                  </a:lnTo>
                  <a:lnTo>
                    <a:pt x="511292" y="1205209"/>
                  </a:lnTo>
                  <a:lnTo>
                    <a:pt x="497457" y="1241074"/>
                  </a:lnTo>
                  <a:lnTo>
                    <a:pt x="478509" y="1274521"/>
                  </a:lnTo>
                  <a:lnTo>
                    <a:pt x="454860" y="1304825"/>
                  </a:lnTo>
                  <a:lnTo>
                    <a:pt x="427020" y="1331332"/>
                  </a:lnTo>
                  <a:lnTo>
                    <a:pt x="395591" y="1353466"/>
                  </a:lnTo>
                  <a:lnTo>
                    <a:pt x="361255" y="1370749"/>
                  </a:lnTo>
                  <a:lnTo>
                    <a:pt x="324754" y="1382807"/>
                  </a:lnTo>
                  <a:lnTo>
                    <a:pt x="286880" y="1389380"/>
                  </a:lnTo>
                  <a:lnTo>
                    <a:pt x="261271" y="1390637"/>
                  </a:lnTo>
                  <a:lnTo>
                    <a:pt x="254857" y="1390559"/>
                  </a:lnTo>
                  <a:lnTo>
                    <a:pt x="216605" y="1386791"/>
                  </a:lnTo>
                  <a:lnTo>
                    <a:pt x="179312" y="1377450"/>
                  </a:lnTo>
                  <a:lnTo>
                    <a:pt x="143801" y="1362741"/>
                  </a:lnTo>
                  <a:lnTo>
                    <a:pt x="110826" y="1342977"/>
                  </a:lnTo>
                  <a:lnTo>
                    <a:pt x="81115" y="1318592"/>
                  </a:lnTo>
                  <a:lnTo>
                    <a:pt x="55297" y="1290107"/>
                  </a:lnTo>
                  <a:lnTo>
                    <a:pt x="33943" y="1258148"/>
                  </a:lnTo>
                  <a:lnTo>
                    <a:pt x="17506" y="1223394"/>
                  </a:lnTo>
                  <a:lnTo>
                    <a:pt x="6348" y="1186613"/>
                  </a:lnTo>
                  <a:lnTo>
                    <a:pt x="707" y="1148585"/>
                  </a:lnTo>
                  <a:lnTo>
                    <a:pt x="0" y="1129366"/>
                  </a:lnTo>
                  <a:close/>
                </a:path>
              </a:pathLst>
            </a:custGeom>
            <a:ln w="8428">
              <a:solidFill>
                <a:srgbClr val="BDB8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4323619" y="4677600"/>
            <a:ext cx="531495" cy="1399540"/>
            <a:chOff x="4323619" y="4677600"/>
            <a:chExt cx="531495" cy="1399540"/>
          </a:xfrm>
        </p:grpSpPr>
        <p:sp>
          <p:nvSpPr>
            <p:cNvPr id="12" name="object 12"/>
            <p:cNvSpPr/>
            <p:nvPr/>
          </p:nvSpPr>
          <p:spPr>
            <a:xfrm>
              <a:off x="4327833" y="4681893"/>
              <a:ext cx="522605" cy="1390650"/>
            </a:xfrm>
            <a:custGeom>
              <a:avLst/>
              <a:gdLst/>
              <a:ahLst/>
              <a:cxnLst/>
              <a:rect l="l" t="t" r="r" b="b"/>
              <a:pathLst>
                <a:path w="522604" h="1390650">
                  <a:moveTo>
                    <a:pt x="267685" y="1390480"/>
                  </a:moveTo>
                  <a:lnTo>
                    <a:pt x="229286" y="1388593"/>
                  </a:lnTo>
                  <a:lnTo>
                    <a:pt x="191588" y="1381095"/>
                  </a:lnTo>
                  <a:lnTo>
                    <a:pt x="155390" y="1368144"/>
                  </a:lnTo>
                  <a:lnTo>
                    <a:pt x="121492" y="1350024"/>
                  </a:lnTo>
                  <a:lnTo>
                    <a:pt x="90614" y="1327123"/>
                  </a:lnTo>
                  <a:lnTo>
                    <a:pt x="63435" y="1299944"/>
                  </a:lnTo>
                  <a:lnTo>
                    <a:pt x="40534" y="1269065"/>
                  </a:lnTo>
                  <a:lnTo>
                    <a:pt x="22415" y="1235166"/>
                  </a:lnTo>
                  <a:lnTo>
                    <a:pt x="9463" y="1198970"/>
                  </a:lnTo>
                  <a:lnTo>
                    <a:pt x="1965" y="1161272"/>
                  </a:lnTo>
                  <a:lnTo>
                    <a:pt x="0" y="1129287"/>
                  </a:lnTo>
                  <a:lnTo>
                    <a:pt x="78" y="254778"/>
                  </a:lnTo>
                  <a:lnTo>
                    <a:pt x="3846" y="216526"/>
                  </a:lnTo>
                  <a:lnTo>
                    <a:pt x="13187" y="179234"/>
                  </a:lnTo>
                  <a:lnTo>
                    <a:pt x="27896" y="143723"/>
                  </a:lnTo>
                  <a:lnTo>
                    <a:pt x="47660" y="110747"/>
                  </a:lnTo>
                  <a:lnTo>
                    <a:pt x="72044" y="81036"/>
                  </a:lnTo>
                  <a:lnTo>
                    <a:pt x="100530" y="55218"/>
                  </a:lnTo>
                  <a:lnTo>
                    <a:pt x="132489" y="33864"/>
                  </a:lnTo>
                  <a:lnTo>
                    <a:pt x="167242" y="17427"/>
                  </a:lnTo>
                  <a:lnTo>
                    <a:pt x="204024" y="6269"/>
                  </a:lnTo>
                  <a:lnTo>
                    <a:pt x="242052" y="629"/>
                  </a:lnTo>
                  <a:lnTo>
                    <a:pt x="254857" y="0"/>
                  </a:lnTo>
                  <a:lnTo>
                    <a:pt x="267685" y="0"/>
                  </a:lnTo>
                  <a:lnTo>
                    <a:pt x="305936" y="3767"/>
                  </a:lnTo>
                  <a:lnTo>
                    <a:pt x="343229" y="13108"/>
                  </a:lnTo>
                  <a:lnTo>
                    <a:pt x="378740" y="27817"/>
                  </a:lnTo>
                  <a:lnTo>
                    <a:pt x="411715" y="47581"/>
                  </a:lnTo>
                  <a:lnTo>
                    <a:pt x="441427" y="71965"/>
                  </a:lnTo>
                  <a:lnTo>
                    <a:pt x="467244" y="100450"/>
                  </a:lnTo>
                  <a:lnTo>
                    <a:pt x="488599" y="132409"/>
                  </a:lnTo>
                  <a:lnTo>
                    <a:pt x="505036" y="167163"/>
                  </a:lnTo>
                  <a:lnTo>
                    <a:pt x="516193" y="203945"/>
                  </a:lnTo>
                  <a:lnTo>
                    <a:pt x="521835" y="241973"/>
                  </a:lnTo>
                  <a:lnTo>
                    <a:pt x="522464" y="1135701"/>
                  </a:lnTo>
                  <a:lnTo>
                    <a:pt x="521835" y="1148506"/>
                  </a:lnTo>
                  <a:lnTo>
                    <a:pt x="516193" y="1186534"/>
                  </a:lnTo>
                  <a:lnTo>
                    <a:pt x="505036" y="1223315"/>
                  </a:lnTo>
                  <a:lnTo>
                    <a:pt x="488598" y="1258069"/>
                  </a:lnTo>
                  <a:lnTo>
                    <a:pt x="467244" y="1290028"/>
                  </a:lnTo>
                  <a:lnTo>
                    <a:pt x="441427" y="1318514"/>
                  </a:lnTo>
                  <a:lnTo>
                    <a:pt x="411715" y="1342897"/>
                  </a:lnTo>
                  <a:lnTo>
                    <a:pt x="378740" y="1362662"/>
                  </a:lnTo>
                  <a:lnTo>
                    <a:pt x="343229" y="1377371"/>
                  </a:lnTo>
                  <a:lnTo>
                    <a:pt x="305936" y="1386712"/>
                  </a:lnTo>
                  <a:lnTo>
                    <a:pt x="267685" y="1390480"/>
                  </a:lnTo>
                  <a:close/>
                </a:path>
              </a:pathLst>
            </a:custGeom>
            <a:solidFill>
              <a:srgbClr val="E8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327833" y="4681814"/>
              <a:ext cx="522605" cy="1390650"/>
            </a:xfrm>
            <a:custGeom>
              <a:avLst/>
              <a:gdLst/>
              <a:ahLst/>
              <a:cxnLst/>
              <a:rect l="l" t="t" r="r" b="b"/>
              <a:pathLst>
                <a:path w="522604" h="1390650">
                  <a:moveTo>
                    <a:pt x="0" y="1129366"/>
                  </a:moveTo>
                  <a:lnTo>
                    <a:pt x="0" y="261271"/>
                  </a:lnTo>
                  <a:lnTo>
                    <a:pt x="78" y="254857"/>
                  </a:lnTo>
                  <a:lnTo>
                    <a:pt x="3846" y="216605"/>
                  </a:lnTo>
                  <a:lnTo>
                    <a:pt x="13187" y="179313"/>
                  </a:lnTo>
                  <a:lnTo>
                    <a:pt x="27896" y="143802"/>
                  </a:lnTo>
                  <a:lnTo>
                    <a:pt x="47660" y="110826"/>
                  </a:lnTo>
                  <a:lnTo>
                    <a:pt x="72044" y="81115"/>
                  </a:lnTo>
                  <a:lnTo>
                    <a:pt x="100530" y="55297"/>
                  </a:lnTo>
                  <a:lnTo>
                    <a:pt x="132489" y="33942"/>
                  </a:lnTo>
                  <a:lnTo>
                    <a:pt x="167242" y="17506"/>
                  </a:lnTo>
                  <a:lnTo>
                    <a:pt x="204024" y="6348"/>
                  </a:lnTo>
                  <a:lnTo>
                    <a:pt x="242052" y="707"/>
                  </a:lnTo>
                  <a:lnTo>
                    <a:pt x="261271" y="0"/>
                  </a:lnTo>
                  <a:lnTo>
                    <a:pt x="267685" y="78"/>
                  </a:lnTo>
                  <a:lnTo>
                    <a:pt x="305936" y="3846"/>
                  </a:lnTo>
                  <a:lnTo>
                    <a:pt x="343229" y="13187"/>
                  </a:lnTo>
                  <a:lnTo>
                    <a:pt x="378740" y="27895"/>
                  </a:lnTo>
                  <a:lnTo>
                    <a:pt x="411715" y="47660"/>
                  </a:lnTo>
                  <a:lnTo>
                    <a:pt x="441427" y="72044"/>
                  </a:lnTo>
                  <a:lnTo>
                    <a:pt x="467244" y="100529"/>
                  </a:lnTo>
                  <a:lnTo>
                    <a:pt x="488599" y="132488"/>
                  </a:lnTo>
                  <a:lnTo>
                    <a:pt x="505036" y="167242"/>
                  </a:lnTo>
                  <a:lnTo>
                    <a:pt x="516193" y="204024"/>
                  </a:lnTo>
                  <a:lnTo>
                    <a:pt x="521835" y="242052"/>
                  </a:lnTo>
                  <a:lnTo>
                    <a:pt x="522542" y="261271"/>
                  </a:lnTo>
                  <a:lnTo>
                    <a:pt x="522542" y="1129366"/>
                  </a:lnTo>
                  <a:lnTo>
                    <a:pt x="519714" y="1167703"/>
                  </a:lnTo>
                  <a:lnTo>
                    <a:pt x="511292" y="1205209"/>
                  </a:lnTo>
                  <a:lnTo>
                    <a:pt x="497457" y="1241074"/>
                  </a:lnTo>
                  <a:lnTo>
                    <a:pt x="478509" y="1274520"/>
                  </a:lnTo>
                  <a:lnTo>
                    <a:pt x="454860" y="1304825"/>
                  </a:lnTo>
                  <a:lnTo>
                    <a:pt x="427020" y="1331332"/>
                  </a:lnTo>
                  <a:lnTo>
                    <a:pt x="395591" y="1353466"/>
                  </a:lnTo>
                  <a:lnTo>
                    <a:pt x="361255" y="1370749"/>
                  </a:lnTo>
                  <a:lnTo>
                    <a:pt x="324754" y="1382808"/>
                  </a:lnTo>
                  <a:lnTo>
                    <a:pt x="286880" y="1389379"/>
                  </a:lnTo>
                  <a:lnTo>
                    <a:pt x="261271" y="1390637"/>
                  </a:lnTo>
                  <a:lnTo>
                    <a:pt x="254857" y="1390559"/>
                  </a:lnTo>
                  <a:lnTo>
                    <a:pt x="216605" y="1386791"/>
                  </a:lnTo>
                  <a:lnTo>
                    <a:pt x="179312" y="1377450"/>
                  </a:lnTo>
                  <a:lnTo>
                    <a:pt x="143801" y="1362742"/>
                  </a:lnTo>
                  <a:lnTo>
                    <a:pt x="110826" y="1342977"/>
                  </a:lnTo>
                  <a:lnTo>
                    <a:pt x="81115" y="1318592"/>
                  </a:lnTo>
                  <a:lnTo>
                    <a:pt x="55297" y="1290107"/>
                  </a:lnTo>
                  <a:lnTo>
                    <a:pt x="33943" y="1258147"/>
                  </a:lnTo>
                  <a:lnTo>
                    <a:pt x="17506" y="1223394"/>
                  </a:lnTo>
                  <a:lnTo>
                    <a:pt x="6348" y="1186613"/>
                  </a:lnTo>
                  <a:lnTo>
                    <a:pt x="707" y="1148585"/>
                  </a:lnTo>
                  <a:lnTo>
                    <a:pt x="0" y="1129366"/>
                  </a:lnTo>
                  <a:close/>
                </a:path>
              </a:pathLst>
            </a:custGeom>
            <a:ln w="8428">
              <a:solidFill>
                <a:srgbClr val="BDB8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974633" y="1507056"/>
            <a:ext cx="4565650" cy="44151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10" b="1">
                <a:solidFill>
                  <a:srgbClr val="292641"/>
                </a:solidFill>
                <a:latin typeface="Tahoma"/>
                <a:cs typeface="Tahoma"/>
              </a:rPr>
              <a:t>Data</a:t>
            </a:r>
            <a:r>
              <a:rPr dirty="0" sz="1300" spc="-10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300" spc="-45" b="1">
                <a:solidFill>
                  <a:srgbClr val="292641"/>
                </a:solidFill>
                <a:latin typeface="Tahoma"/>
                <a:cs typeface="Tahoma"/>
              </a:rPr>
              <a:t>Protection</a:t>
            </a:r>
            <a:r>
              <a:rPr dirty="0" sz="1300" spc="-10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92641"/>
                </a:solidFill>
                <a:latin typeface="Tahoma"/>
                <a:cs typeface="Tahoma"/>
              </a:rPr>
              <a:t>Requirements</a:t>
            </a:r>
            <a:endParaRPr sz="1300">
              <a:latin typeface="Tahoma"/>
              <a:cs typeface="Tahoma"/>
            </a:endParaRPr>
          </a:p>
          <a:p>
            <a:pPr marL="12700" marR="95885">
              <a:lnSpc>
                <a:spcPct val="133000"/>
              </a:lnSpc>
              <a:spcBef>
                <a:spcPts val="465"/>
              </a:spcBef>
            </a:pP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Classify</a:t>
            </a:r>
            <a:r>
              <a:rPr dirty="0" sz="1050" spc="-5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data</a:t>
            </a:r>
            <a:r>
              <a:rPr dirty="0" sz="1050" spc="-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before</a:t>
            </a:r>
            <a:r>
              <a:rPr dirty="0" sz="1050" spc="-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AI</a:t>
            </a:r>
            <a:r>
              <a:rPr dirty="0" sz="1050" spc="-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workflows;</a:t>
            </a:r>
            <a:r>
              <a:rPr dirty="0" sz="1050" spc="-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use</a:t>
            </a:r>
            <a:r>
              <a:rPr dirty="0" sz="1050" spc="-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minimum</a:t>
            </a:r>
            <a:r>
              <a:rPr dirty="0" sz="1050" spc="-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necessary</a:t>
            </a:r>
            <a:r>
              <a:rPr dirty="0" sz="1050" spc="-2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fields;</a:t>
            </a:r>
            <a:r>
              <a:rPr dirty="0" sz="1050" spc="-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never</a:t>
            </a:r>
            <a:r>
              <a:rPr dirty="0" sz="1050" spc="-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292641"/>
                </a:solidFill>
                <a:latin typeface="Arial MT"/>
                <a:cs typeface="Arial MT"/>
              </a:rPr>
              <a:t>put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passwords,</a:t>
            </a:r>
            <a:r>
              <a:rPr dirty="0" sz="1050" spc="-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API</a:t>
            </a:r>
            <a:r>
              <a:rPr dirty="0" sz="1050" spc="-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keys,</a:t>
            </a:r>
            <a:r>
              <a:rPr dirty="0" sz="1050" spc="-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payment</a:t>
            </a:r>
            <a:r>
              <a:rPr dirty="0" sz="1050" spc="-2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data,</a:t>
            </a:r>
            <a:r>
              <a:rPr dirty="0" sz="1050" spc="-2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government</a:t>
            </a:r>
            <a:r>
              <a:rPr dirty="0" sz="1050" spc="-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IDs</a:t>
            </a:r>
            <a:r>
              <a:rPr dirty="0" sz="1050" spc="-2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or</a:t>
            </a:r>
            <a:r>
              <a:rPr dirty="0" sz="1050" spc="-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unredacted</a:t>
            </a:r>
            <a:r>
              <a:rPr dirty="0" sz="1050" spc="-2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records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into</a:t>
            </a:r>
            <a:r>
              <a:rPr dirty="0" sz="1050" spc="-4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unapproved</a:t>
            </a:r>
            <a:r>
              <a:rPr dirty="0" sz="1050" spc="-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tools.</a:t>
            </a:r>
            <a:r>
              <a:rPr dirty="0" sz="1050" spc="-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Use</a:t>
            </a:r>
            <a:r>
              <a:rPr dirty="0" sz="1050" spc="-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enterprise</a:t>
            </a:r>
            <a:r>
              <a:rPr dirty="0" sz="1050" spc="-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subscriptions,</a:t>
            </a:r>
            <a:r>
              <a:rPr dirty="0" sz="1050" spc="-4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SSO,</a:t>
            </a:r>
            <a:r>
              <a:rPr dirty="0" sz="1050" spc="-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MFA,</a:t>
            </a:r>
            <a:r>
              <a:rPr dirty="0" sz="1050" spc="-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RBAC,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encryption,</a:t>
            </a:r>
            <a:r>
              <a:rPr dirty="0" sz="1050" spc="-1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40">
                <a:solidFill>
                  <a:srgbClr val="292641"/>
                </a:solidFill>
                <a:latin typeface="Arial MT"/>
                <a:cs typeface="Arial MT"/>
              </a:rPr>
              <a:t>DLP,</a:t>
            </a:r>
            <a:r>
              <a:rPr dirty="0" sz="1050" spc="-1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redaction/tokenization,</a:t>
            </a:r>
            <a:r>
              <a:rPr dirty="0" sz="1050" spc="-1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logs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050" spc="-1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vendor</a:t>
            </a:r>
            <a:r>
              <a:rPr dirty="0" sz="1050" spc="-1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due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 diligence</a:t>
            </a:r>
            <a:r>
              <a:rPr dirty="0" sz="1050" spc="-1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292641"/>
                </a:solidFill>
                <a:latin typeface="Arial MT"/>
                <a:cs typeface="Arial MT"/>
              </a:rPr>
              <a:t>for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residency</a:t>
            </a:r>
            <a:r>
              <a:rPr dirty="0" sz="1050" spc="-5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050" spc="-4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subprocessors.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spc="-65" b="1">
                <a:solidFill>
                  <a:srgbClr val="292641"/>
                </a:solidFill>
                <a:latin typeface="Tahoma"/>
                <a:cs typeface="Tahoma"/>
              </a:rPr>
              <a:t>Tooling</a:t>
            </a:r>
            <a:r>
              <a:rPr dirty="0" sz="1300" spc="-9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92641"/>
                </a:solidFill>
                <a:latin typeface="Tahoma"/>
                <a:cs typeface="Tahoma"/>
              </a:rPr>
              <a:t>Strategy</a:t>
            </a:r>
            <a:endParaRPr sz="1300">
              <a:latin typeface="Tahoma"/>
              <a:cs typeface="Tahoma"/>
            </a:endParaRPr>
          </a:p>
          <a:p>
            <a:pPr marL="12700" marR="169545">
              <a:lnSpc>
                <a:spcPct val="133400"/>
              </a:lnSpc>
              <a:spcBef>
                <a:spcPts val="459"/>
              </a:spcBef>
            </a:pP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Combine</a:t>
            </a:r>
            <a:r>
              <a:rPr dirty="0" sz="1050" spc="-5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productivity</a:t>
            </a:r>
            <a:r>
              <a:rPr dirty="0" sz="1050" spc="-5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platforms</a:t>
            </a:r>
            <a:r>
              <a:rPr dirty="0" sz="1050" spc="-5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with</a:t>
            </a:r>
            <a:r>
              <a:rPr dirty="0" sz="1050" spc="-5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governance,</a:t>
            </a:r>
            <a:r>
              <a:rPr dirty="0" sz="1050" spc="-5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observability</a:t>
            </a:r>
            <a:r>
              <a:rPr dirty="0" sz="1050" spc="-5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050" spc="-4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runtime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guardrails.</a:t>
            </a:r>
            <a:r>
              <a:rPr dirty="0" sz="1050" spc="-3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Select</a:t>
            </a:r>
            <a:r>
              <a:rPr dirty="0" sz="1050" spc="-3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products</a:t>
            </a:r>
            <a:r>
              <a:rPr dirty="0" sz="1050" spc="-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by</a:t>
            </a:r>
            <a:r>
              <a:rPr dirty="0" sz="1050" spc="-3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use</a:t>
            </a:r>
            <a:r>
              <a:rPr dirty="0" sz="1050" spc="-3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case</a:t>
            </a:r>
            <a:r>
              <a:rPr dirty="0" sz="1050" spc="-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050" spc="-3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data</a:t>
            </a:r>
            <a:r>
              <a:rPr dirty="0" sz="1050" spc="-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sensitivity: governance/GRC,</a:t>
            </a:r>
            <a:r>
              <a:rPr dirty="0" sz="10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model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observability,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 runtime guardrails,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productivity</a:t>
            </a:r>
            <a:r>
              <a:rPr dirty="0" sz="1050" spc="-6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292641"/>
                </a:solidFill>
                <a:latin typeface="Arial MT"/>
                <a:cs typeface="Arial MT"/>
              </a:rPr>
              <a:t>AI,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CRM</a:t>
            </a:r>
            <a:r>
              <a:rPr dirty="0" sz="1050" spc="-6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AI</a:t>
            </a:r>
            <a:r>
              <a:rPr dirty="0" sz="1050" spc="-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050" spc="-2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data</a:t>
            </a:r>
            <a:r>
              <a:rPr dirty="0" sz="1050" spc="-2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protection</a:t>
            </a:r>
            <a:r>
              <a:rPr dirty="0" sz="1050" spc="-2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tools.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spc="-55" b="1">
                <a:solidFill>
                  <a:srgbClr val="292641"/>
                </a:solidFill>
                <a:latin typeface="Tahoma"/>
                <a:cs typeface="Tahoma"/>
              </a:rPr>
              <a:t>Subscription</a:t>
            </a:r>
            <a:r>
              <a:rPr dirty="0" sz="1300" spc="-7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292641"/>
                </a:solidFill>
                <a:latin typeface="Tahoma"/>
                <a:cs typeface="Tahoma"/>
              </a:rPr>
              <a:t>Matrix</a:t>
            </a:r>
            <a:endParaRPr sz="1300">
              <a:latin typeface="Tahoma"/>
              <a:cs typeface="Tahoma"/>
            </a:endParaRPr>
          </a:p>
          <a:p>
            <a:pPr marL="12700" marR="5080">
              <a:lnSpc>
                <a:spcPct val="133400"/>
              </a:lnSpc>
              <a:spcBef>
                <a:spcPts val="459"/>
              </a:spcBef>
            </a:pP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Free/consumer: experimentation</a:t>
            </a:r>
            <a:r>
              <a:rPr dirty="0" sz="10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292641"/>
                </a:solidFill>
                <a:latin typeface="Arial MT"/>
                <a:cs typeface="Arial MT"/>
              </a:rPr>
              <a:t>only.</a:t>
            </a:r>
            <a:r>
              <a:rPr dirty="0" sz="1050" spc="-2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Team/business:</a:t>
            </a:r>
            <a:r>
              <a:rPr dirty="0" sz="10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departmental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use</a:t>
            </a:r>
            <a:r>
              <a:rPr dirty="0" sz="10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after review.</a:t>
            </a:r>
            <a:r>
              <a:rPr dirty="0" sz="1050" spc="-3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Enterprise:</a:t>
            </a:r>
            <a:r>
              <a:rPr dirty="0" sz="1050" spc="-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SSO,</a:t>
            </a:r>
            <a:r>
              <a:rPr dirty="0" sz="1050" spc="-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SCIM,</a:t>
            </a:r>
            <a:r>
              <a:rPr dirty="0" sz="1050" spc="-3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logs</a:t>
            </a:r>
            <a:r>
              <a:rPr dirty="0" sz="1050" spc="-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1050" spc="-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contracts</a:t>
            </a:r>
            <a:r>
              <a:rPr dirty="0" sz="1050" spc="-3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for</a:t>
            </a:r>
            <a:r>
              <a:rPr dirty="0" sz="1050" spc="-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company-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wide</a:t>
            </a:r>
            <a:r>
              <a:rPr dirty="0" sz="1050" spc="-3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292641"/>
                </a:solidFill>
                <a:latin typeface="Arial MT"/>
                <a:cs typeface="Arial MT"/>
              </a:rPr>
              <a:t>and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regulated</a:t>
            </a:r>
            <a:r>
              <a:rPr dirty="0" sz="1050" spc="-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work.</a:t>
            </a:r>
            <a:r>
              <a:rPr dirty="0" sz="1050" spc="-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Governance</a:t>
            </a:r>
            <a:r>
              <a:rPr dirty="0" sz="1050" spc="-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&amp;</a:t>
            </a:r>
            <a:r>
              <a:rPr dirty="0" sz="1050" spc="-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security</a:t>
            </a:r>
            <a:r>
              <a:rPr dirty="0" sz="1050" spc="-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platforms</a:t>
            </a:r>
            <a:r>
              <a:rPr dirty="0" sz="1050" spc="-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complement</a:t>
            </a:r>
            <a:r>
              <a:rPr dirty="0" sz="1050" spc="-3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but</a:t>
            </a:r>
            <a:r>
              <a:rPr dirty="0" sz="1050" spc="-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do</a:t>
            </a:r>
            <a:r>
              <a:rPr dirty="0" sz="1050" spc="-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292641"/>
                </a:solidFill>
                <a:latin typeface="Arial MT"/>
                <a:cs typeface="Arial MT"/>
              </a:rPr>
              <a:t>not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replace</a:t>
            </a:r>
            <a:r>
              <a:rPr dirty="0" sz="1050" spc="-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92641"/>
                </a:solidFill>
                <a:latin typeface="Arial MT"/>
                <a:cs typeface="Arial MT"/>
              </a:rPr>
              <a:t>secure</a:t>
            </a:r>
            <a:r>
              <a:rPr dirty="0" sz="1050" spc="-4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92641"/>
                </a:solidFill>
                <a:latin typeface="Arial MT"/>
                <a:cs typeface="Arial MT"/>
              </a:rPr>
              <a:t>architecture.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5" name="object 15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76992" y="5985305"/>
            <a:ext cx="1552457" cy="3708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201150" cy="6440805"/>
          </a:xfrm>
          <a:custGeom>
            <a:avLst/>
            <a:gdLst/>
            <a:ahLst/>
            <a:cxnLst/>
            <a:rect l="l" t="t" r="r" b="b"/>
            <a:pathLst>
              <a:path w="9201150" h="6440805">
                <a:moveTo>
                  <a:pt x="9200604" y="6440423"/>
                </a:moveTo>
                <a:lnTo>
                  <a:pt x="0" y="6440423"/>
                </a:lnTo>
                <a:lnTo>
                  <a:pt x="0" y="0"/>
                </a:lnTo>
                <a:lnTo>
                  <a:pt x="9200604" y="0"/>
                </a:lnTo>
                <a:lnTo>
                  <a:pt x="9200604" y="6440423"/>
                </a:lnTo>
                <a:close/>
              </a:path>
            </a:pathLst>
          </a:custGeom>
          <a:solidFill>
            <a:srgbClr val="FAFAFA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70331" y="314151"/>
            <a:ext cx="8220075" cy="3879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-114"/>
              <a:t>Implementation</a:t>
            </a:r>
            <a:r>
              <a:rPr dirty="0" sz="2350" spc="-200"/>
              <a:t> </a:t>
            </a:r>
            <a:r>
              <a:rPr dirty="0" sz="2350" spc="-80"/>
              <a:t>Roadmap,</a:t>
            </a:r>
            <a:r>
              <a:rPr dirty="0" sz="2350" spc="-195"/>
              <a:t> </a:t>
            </a:r>
            <a:r>
              <a:rPr dirty="0" sz="2350" spc="-130"/>
              <a:t>KPIs,</a:t>
            </a:r>
            <a:r>
              <a:rPr dirty="0" sz="2350" spc="-200"/>
              <a:t> </a:t>
            </a:r>
            <a:r>
              <a:rPr dirty="0" sz="2350" spc="-75"/>
              <a:t>Policy</a:t>
            </a:r>
            <a:r>
              <a:rPr dirty="0" sz="2350" spc="-195"/>
              <a:t> </a:t>
            </a:r>
            <a:r>
              <a:rPr dirty="0" sz="2350" spc="-190"/>
              <a:t>&amp;</a:t>
            </a:r>
            <a:r>
              <a:rPr dirty="0" sz="2350" spc="-300"/>
              <a:t> </a:t>
            </a:r>
            <a:r>
              <a:rPr dirty="0" sz="2350" spc="-70"/>
              <a:t>Closing</a:t>
            </a:r>
            <a:r>
              <a:rPr dirty="0" sz="2350" spc="-195"/>
              <a:t> </a:t>
            </a:r>
            <a:r>
              <a:rPr dirty="0" sz="2350" spc="-10"/>
              <a:t>Guidance</a:t>
            </a:r>
            <a:endParaRPr sz="2350"/>
          </a:p>
        </p:txBody>
      </p:sp>
      <p:grpSp>
        <p:nvGrpSpPr>
          <p:cNvPr id="4" name="object 4"/>
          <p:cNvGrpSpPr/>
          <p:nvPr/>
        </p:nvGrpSpPr>
        <p:grpSpPr>
          <a:xfrm>
            <a:off x="4115114" y="950435"/>
            <a:ext cx="621665" cy="2983230"/>
            <a:chOff x="4115114" y="950435"/>
            <a:chExt cx="621665" cy="2983230"/>
          </a:xfrm>
        </p:grpSpPr>
        <p:sp>
          <p:nvSpPr>
            <p:cNvPr id="5" name="object 5"/>
            <p:cNvSpPr/>
            <p:nvPr/>
          </p:nvSpPr>
          <p:spPr>
            <a:xfrm>
              <a:off x="4115104" y="950734"/>
              <a:ext cx="493395" cy="2982595"/>
            </a:xfrm>
            <a:custGeom>
              <a:avLst/>
              <a:gdLst/>
              <a:ahLst/>
              <a:cxnLst/>
              <a:rect l="l" t="t" r="r" b="b"/>
              <a:pathLst>
                <a:path w="493395" h="2982595">
                  <a:moveTo>
                    <a:pt x="368033" y="135890"/>
                  </a:moveTo>
                  <a:lnTo>
                    <a:pt x="367284" y="134086"/>
                  </a:lnTo>
                  <a:lnTo>
                    <a:pt x="364286" y="131089"/>
                  </a:lnTo>
                  <a:lnTo>
                    <a:pt x="362483" y="130340"/>
                  </a:lnTo>
                  <a:lnTo>
                    <a:pt x="5549" y="130340"/>
                  </a:lnTo>
                  <a:lnTo>
                    <a:pt x="3746" y="131089"/>
                  </a:lnTo>
                  <a:lnTo>
                    <a:pt x="749" y="134086"/>
                  </a:lnTo>
                  <a:lnTo>
                    <a:pt x="0" y="135890"/>
                  </a:lnTo>
                  <a:lnTo>
                    <a:pt x="0" y="138010"/>
                  </a:lnTo>
                  <a:lnTo>
                    <a:pt x="0" y="140131"/>
                  </a:lnTo>
                  <a:lnTo>
                    <a:pt x="749" y="141935"/>
                  </a:lnTo>
                  <a:lnTo>
                    <a:pt x="3746" y="144932"/>
                  </a:lnTo>
                  <a:lnTo>
                    <a:pt x="5549" y="145681"/>
                  </a:lnTo>
                  <a:lnTo>
                    <a:pt x="362483" y="145681"/>
                  </a:lnTo>
                  <a:lnTo>
                    <a:pt x="364286" y="144932"/>
                  </a:lnTo>
                  <a:lnTo>
                    <a:pt x="367284" y="141935"/>
                  </a:lnTo>
                  <a:lnTo>
                    <a:pt x="368033" y="140131"/>
                  </a:lnTo>
                  <a:lnTo>
                    <a:pt x="368033" y="135890"/>
                  </a:lnTo>
                  <a:close/>
                </a:path>
                <a:path w="493395" h="2982595">
                  <a:moveTo>
                    <a:pt x="492861" y="5549"/>
                  </a:moveTo>
                  <a:lnTo>
                    <a:pt x="492112" y="3746"/>
                  </a:lnTo>
                  <a:lnTo>
                    <a:pt x="489115" y="749"/>
                  </a:lnTo>
                  <a:lnTo>
                    <a:pt x="487311" y="0"/>
                  </a:lnTo>
                  <a:lnTo>
                    <a:pt x="483069" y="0"/>
                  </a:lnTo>
                  <a:lnTo>
                    <a:pt x="481266" y="749"/>
                  </a:lnTo>
                  <a:lnTo>
                    <a:pt x="478269" y="3746"/>
                  </a:lnTo>
                  <a:lnTo>
                    <a:pt x="477520" y="5549"/>
                  </a:lnTo>
                  <a:lnTo>
                    <a:pt x="477520" y="2974860"/>
                  </a:lnTo>
                  <a:lnTo>
                    <a:pt x="477520" y="2976981"/>
                  </a:lnTo>
                  <a:lnTo>
                    <a:pt x="478269" y="2978785"/>
                  </a:lnTo>
                  <a:lnTo>
                    <a:pt x="481266" y="2981782"/>
                  </a:lnTo>
                  <a:lnTo>
                    <a:pt x="483069" y="2982531"/>
                  </a:lnTo>
                  <a:lnTo>
                    <a:pt x="487311" y="2982531"/>
                  </a:lnTo>
                  <a:lnTo>
                    <a:pt x="489115" y="2981782"/>
                  </a:lnTo>
                  <a:lnTo>
                    <a:pt x="492112" y="2978785"/>
                  </a:lnTo>
                  <a:lnTo>
                    <a:pt x="492861" y="2976981"/>
                  </a:lnTo>
                  <a:lnTo>
                    <a:pt x="492861" y="5549"/>
                  </a:lnTo>
                  <a:close/>
                </a:path>
              </a:pathLst>
            </a:custGeom>
            <a:solidFill>
              <a:srgbClr val="BDB8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471637" y="954562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27348" y="260683"/>
                  </a:moveTo>
                  <a:lnTo>
                    <a:pt x="33335" y="260683"/>
                  </a:lnTo>
                  <a:lnTo>
                    <a:pt x="28432" y="259708"/>
                  </a:lnTo>
                  <a:lnTo>
                    <a:pt x="975" y="232250"/>
                  </a:lnTo>
                  <a:lnTo>
                    <a:pt x="0" y="227348"/>
                  </a:lnTo>
                  <a:lnTo>
                    <a:pt x="0" y="222252"/>
                  </a:lnTo>
                  <a:lnTo>
                    <a:pt x="0" y="33335"/>
                  </a:lnTo>
                  <a:lnTo>
                    <a:pt x="28432" y="975"/>
                  </a:lnTo>
                  <a:lnTo>
                    <a:pt x="33335" y="0"/>
                  </a:lnTo>
                  <a:lnTo>
                    <a:pt x="227348" y="0"/>
                  </a:lnTo>
                  <a:lnTo>
                    <a:pt x="259708" y="28432"/>
                  </a:lnTo>
                  <a:lnTo>
                    <a:pt x="260683" y="33335"/>
                  </a:lnTo>
                  <a:lnTo>
                    <a:pt x="260683" y="227348"/>
                  </a:lnTo>
                  <a:lnTo>
                    <a:pt x="232250" y="259708"/>
                  </a:lnTo>
                  <a:lnTo>
                    <a:pt x="227348" y="260683"/>
                  </a:lnTo>
                  <a:close/>
                </a:path>
              </a:pathLst>
            </a:custGeom>
            <a:solidFill>
              <a:srgbClr val="E8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471637" y="954562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0" y="222252"/>
                  </a:moveTo>
                  <a:lnTo>
                    <a:pt x="0" y="38431"/>
                  </a:lnTo>
                  <a:lnTo>
                    <a:pt x="0" y="33335"/>
                  </a:lnTo>
                  <a:lnTo>
                    <a:pt x="975" y="28432"/>
                  </a:lnTo>
                  <a:lnTo>
                    <a:pt x="2925" y="23724"/>
                  </a:lnTo>
                  <a:lnTo>
                    <a:pt x="4875" y="19016"/>
                  </a:lnTo>
                  <a:lnTo>
                    <a:pt x="7652" y="14860"/>
                  </a:lnTo>
                  <a:lnTo>
                    <a:pt x="11256" y="11256"/>
                  </a:lnTo>
                  <a:lnTo>
                    <a:pt x="14860" y="7652"/>
                  </a:lnTo>
                  <a:lnTo>
                    <a:pt x="19016" y="4875"/>
                  </a:lnTo>
                  <a:lnTo>
                    <a:pt x="23724" y="2925"/>
                  </a:lnTo>
                  <a:lnTo>
                    <a:pt x="28432" y="975"/>
                  </a:lnTo>
                  <a:lnTo>
                    <a:pt x="33335" y="0"/>
                  </a:lnTo>
                  <a:lnTo>
                    <a:pt x="38431" y="0"/>
                  </a:lnTo>
                  <a:lnTo>
                    <a:pt x="222252" y="0"/>
                  </a:lnTo>
                  <a:lnTo>
                    <a:pt x="227348" y="0"/>
                  </a:lnTo>
                  <a:lnTo>
                    <a:pt x="232250" y="975"/>
                  </a:lnTo>
                  <a:lnTo>
                    <a:pt x="236959" y="2925"/>
                  </a:lnTo>
                  <a:lnTo>
                    <a:pt x="241667" y="4875"/>
                  </a:lnTo>
                  <a:lnTo>
                    <a:pt x="245823" y="7652"/>
                  </a:lnTo>
                  <a:lnTo>
                    <a:pt x="249427" y="11256"/>
                  </a:lnTo>
                  <a:lnTo>
                    <a:pt x="253031" y="14860"/>
                  </a:lnTo>
                  <a:lnTo>
                    <a:pt x="260683" y="38431"/>
                  </a:lnTo>
                  <a:lnTo>
                    <a:pt x="260683" y="222252"/>
                  </a:lnTo>
                  <a:lnTo>
                    <a:pt x="260683" y="227348"/>
                  </a:lnTo>
                  <a:lnTo>
                    <a:pt x="259708" y="232250"/>
                  </a:lnTo>
                  <a:lnTo>
                    <a:pt x="257758" y="236959"/>
                  </a:lnTo>
                  <a:lnTo>
                    <a:pt x="255808" y="241667"/>
                  </a:lnTo>
                  <a:lnTo>
                    <a:pt x="222252" y="260683"/>
                  </a:lnTo>
                  <a:lnTo>
                    <a:pt x="38431" y="260683"/>
                  </a:lnTo>
                  <a:lnTo>
                    <a:pt x="33335" y="260683"/>
                  </a:lnTo>
                  <a:lnTo>
                    <a:pt x="28432" y="259708"/>
                  </a:lnTo>
                  <a:lnTo>
                    <a:pt x="23724" y="257758"/>
                  </a:lnTo>
                  <a:lnTo>
                    <a:pt x="19016" y="255808"/>
                  </a:lnTo>
                  <a:lnTo>
                    <a:pt x="14860" y="253031"/>
                  </a:lnTo>
                  <a:lnTo>
                    <a:pt x="11256" y="249427"/>
                  </a:lnTo>
                  <a:lnTo>
                    <a:pt x="7652" y="245823"/>
                  </a:lnTo>
                  <a:lnTo>
                    <a:pt x="4875" y="241667"/>
                  </a:lnTo>
                  <a:lnTo>
                    <a:pt x="2925" y="236959"/>
                  </a:lnTo>
                  <a:lnTo>
                    <a:pt x="975" y="232250"/>
                  </a:lnTo>
                  <a:lnTo>
                    <a:pt x="0" y="227348"/>
                  </a:lnTo>
                  <a:lnTo>
                    <a:pt x="0" y="222252"/>
                  </a:lnTo>
                  <a:close/>
                </a:path>
              </a:pathLst>
            </a:custGeom>
            <a:ln w="7667">
              <a:solidFill>
                <a:srgbClr val="BDB8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552261" y="958074"/>
            <a:ext cx="9652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390" b="1">
                <a:solidFill>
                  <a:srgbClr val="292641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4988" y="971151"/>
            <a:ext cx="3214370" cy="653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00838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solidFill>
                  <a:srgbClr val="292641"/>
                </a:solidFill>
                <a:latin typeface="Tahoma"/>
                <a:cs typeface="Tahoma"/>
              </a:rPr>
              <a:t>Days</a:t>
            </a:r>
            <a:r>
              <a:rPr dirty="0" sz="1150" spc="-10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150" spc="-180" b="1">
                <a:solidFill>
                  <a:srgbClr val="292641"/>
                </a:solidFill>
                <a:latin typeface="Tahoma"/>
                <a:cs typeface="Tahoma"/>
              </a:rPr>
              <a:t>1–</a:t>
            </a:r>
            <a:r>
              <a:rPr dirty="0" sz="1150" spc="-10" b="1">
                <a:solidFill>
                  <a:srgbClr val="292641"/>
                </a:solidFill>
                <a:latin typeface="Tahoma"/>
                <a:cs typeface="Tahoma"/>
              </a:rPr>
              <a:t>30</a:t>
            </a:r>
            <a:r>
              <a:rPr dirty="0" sz="1150" spc="-9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150" spc="-30" b="1">
                <a:solidFill>
                  <a:srgbClr val="292641"/>
                </a:solidFill>
                <a:latin typeface="Tahoma"/>
                <a:cs typeface="Tahoma"/>
              </a:rPr>
              <a:t>—</a:t>
            </a:r>
            <a:r>
              <a:rPr dirty="0" sz="1150" spc="-14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150" spc="-25" b="1">
                <a:solidFill>
                  <a:srgbClr val="292641"/>
                </a:solidFill>
                <a:latin typeface="Tahoma"/>
                <a:cs typeface="Tahoma"/>
              </a:rPr>
              <a:t>Assess</a:t>
            </a:r>
            <a:r>
              <a:rPr dirty="0" sz="1150" spc="-9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150" spc="-80" b="1">
                <a:solidFill>
                  <a:srgbClr val="292641"/>
                </a:solidFill>
                <a:latin typeface="Tahoma"/>
                <a:cs typeface="Tahoma"/>
              </a:rPr>
              <a:t>&amp;</a:t>
            </a:r>
            <a:r>
              <a:rPr dirty="0" sz="1150" spc="-15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150" spc="-10" b="1">
                <a:solidFill>
                  <a:srgbClr val="292641"/>
                </a:solidFill>
                <a:latin typeface="Tahoma"/>
                <a:cs typeface="Tahoma"/>
              </a:rPr>
              <a:t>Prioritize</a:t>
            </a:r>
            <a:endParaRPr sz="1150">
              <a:latin typeface="Tahoma"/>
              <a:cs typeface="Tahoma"/>
            </a:endParaRPr>
          </a:p>
          <a:p>
            <a:pPr marL="438150" marR="5080" indent="-426084">
              <a:lnSpc>
                <a:spcPct val="137700"/>
              </a:lnSpc>
              <a:spcBef>
                <a:spcPts val="385"/>
              </a:spcBef>
            </a:pP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Appoint sponsor and governance lead; create tool/use-</a:t>
            </a:r>
            <a:r>
              <a:rPr dirty="0" sz="950" spc="-20">
                <a:solidFill>
                  <a:srgbClr val="292641"/>
                </a:solidFill>
                <a:latin typeface="Arial MT"/>
                <a:cs typeface="Arial MT"/>
              </a:rPr>
              <a:t>case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inventory; classify risks; draft acceptable-use </a:t>
            </a:r>
            <a:r>
              <a:rPr dirty="0" sz="950" spc="-10">
                <a:solidFill>
                  <a:srgbClr val="292641"/>
                </a:solidFill>
                <a:latin typeface="Arial MT"/>
                <a:cs typeface="Arial MT"/>
              </a:rPr>
              <a:t>policy.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464156" y="1678816"/>
            <a:ext cx="621665" cy="269240"/>
            <a:chOff x="4464156" y="1678816"/>
            <a:chExt cx="621665" cy="269240"/>
          </a:xfrm>
        </p:grpSpPr>
        <p:sp>
          <p:nvSpPr>
            <p:cNvPr id="11" name="object 11"/>
            <p:cNvSpPr/>
            <p:nvPr/>
          </p:nvSpPr>
          <p:spPr>
            <a:xfrm>
              <a:off x="4717466" y="1801785"/>
              <a:ext cx="368300" cy="15875"/>
            </a:xfrm>
            <a:custGeom>
              <a:avLst/>
              <a:gdLst/>
              <a:ahLst/>
              <a:cxnLst/>
              <a:rect l="l" t="t" r="r" b="b"/>
              <a:pathLst>
                <a:path w="368300" h="15875">
                  <a:moveTo>
                    <a:pt x="362474" y="15334"/>
                  </a:moveTo>
                  <a:lnTo>
                    <a:pt x="5549" y="15334"/>
                  </a:lnTo>
                  <a:lnTo>
                    <a:pt x="3742" y="14585"/>
                  </a:lnTo>
                  <a:lnTo>
                    <a:pt x="748" y="11591"/>
                  </a:lnTo>
                  <a:lnTo>
                    <a:pt x="0" y="9784"/>
                  </a:lnTo>
                  <a:lnTo>
                    <a:pt x="0" y="7667"/>
                  </a:lnTo>
                  <a:lnTo>
                    <a:pt x="0" y="5549"/>
                  </a:lnTo>
                  <a:lnTo>
                    <a:pt x="748" y="3742"/>
                  </a:lnTo>
                  <a:lnTo>
                    <a:pt x="3742" y="748"/>
                  </a:lnTo>
                  <a:lnTo>
                    <a:pt x="5549" y="0"/>
                  </a:lnTo>
                  <a:lnTo>
                    <a:pt x="362474" y="0"/>
                  </a:lnTo>
                  <a:lnTo>
                    <a:pt x="364281" y="748"/>
                  </a:lnTo>
                  <a:lnTo>
                    <a:pt x="367275" y="3742"/>
                  </a:lnTo>
                  <a:lnTo>
                    <a:pt x="368024" y="5549"/>
                  </a:lnTo>
                  <a:lnTo>
                    <a:pt x="368024" y="9784"/>
                  </a:lnTo>
                  <a:lnTo>
                    <a:pt x="367275" y="11591"/>
                  </a:lnTo>
                  <a:lnTo>
                    <a:pt x="364281" y="14585"/>
                  </a:lnTo>
                  <a:lnTo>
                    <a:pt x="362474" y="15334"/>
                  </a:lnTo>
                  <a:close/>
                </a:path>
              </a:pathLst>
            </a:custGeom>
            <a:solidFill>
              <a:srgbClr val="BDB8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468283" y="1682944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227348" y="260683"/>
                  </a:moveTo>
                  <a:lnTo>
                    <a:pt x="33335" y="260683"/>
                  </a:lnTo>
                  <a:lnTo>
                    <a:pt x="28432" y="259708"/>
                  </a:lnTo>
                  <a:lnTo>
                    <a:pt x="975" y="232250"/>
                  </a:lnTo>
                  <a:lnTo>
                    <a:pt x="0" y="227348"/>
                  </a:lnTo>
                  <a:lnTo>
                    <a:pt x="0" y="222252"/>
                  </a:lnTo>
                  <a:lnTo>
                    <a:pt x="0" y="33335"/>
                  </a:lnTo>
                  <a:lnTo>
                    <a:pt x="28432" y="975"/>
                  </a:lnTo>
                  <a:lnTo>
                    <a:pt x="33335" y="0"/>
                  </a:lnTo>
                  <a:lnTo>
                    <a:pt x="227348" y="0"/>
                  </a:lnTo>
                  <a:lnTo>
                    <a:pt x="259708" y="28432"/>
                  </a:lnTo>
                  <a:lnTo>
                    <a:pt x="260683" y="33335"/>
                  </a:lnTo>
                  <a:lnTo>
                    <a:pt x="260683" y="227348"/>
                  </a:lnTo>
                  <a:lnTo>
                    <a:pt x="232250" y="259708"/>
                  </a:lnTo>
                  <a:lnTo>
                    <a:pt x="227348" y="260683"/>
                  </a:lnTo>
                  <a:close/>
                </a:path>
              </a:pathLst>
            </a:custGeom>
            <a:solidFill>
              <a:srgbClr val="E8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468283" y="1682944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222252"/>
                  </a:moveTo>
                  <a:lnTo>
                    <a:pt x="0" y="38431"/>
                  </a:lnTo>
                  <a:lnTo>
                    <a:pt x="0" y="33335"/>
                  </a:lnTo>
                  <a:lnTo>
                    <a:pt x="975" y="28432"/>
                  </a:lnTo>
                  <a:lnTo>
                    <a:pt x="2925" y="23724"/>
                  </a:lnTo>
                  <a:lnTo>
                    <a:pt x="4875" y="19016"/>
                  </a:lnTo>
                  <a:lnTo>
                    <a:pt x="7652" y="14860"/>
                  </a:lnTo>
                  <a:lnTo>
                    <a:pt x="11256" y="11256"/>
                  </a:lnTo>
                  <a:lnTo>
                    <a:pt x="14860" y="7652"/>
                  </a:lnTo>
                  <a:lnTo>
                    <a:pt x="19016" y="4875"/>
                  </a:lnTo>
                  <a:lnTo>
                    <a:pt x="23724" y="2925"/>
                  </a:lnTo>
                  <a:lnTo>
                    <a:pt x="28432" y="975"/>
                  </a:lnTo>
                  <a:lnTo>
                    <a:pt x="33335" y="0"/>
                  </a:lnTo>
                  <a:lnTo>
                    <a:pt x="38431" y="0"/>
                  </a:lnTo>
                  <a:lnTo>
                    <a:pt x="222252" y="0"/>
                  </a:lnTo>
                  <a:lnTo>
                    <a:pt x="227348" y="0"/>
                  </a:lnTo>
                  <a:lnTo>
                    <a:pt x="232250" y="975"/>
                  </a:lnTo>
                  <a:lnTo>
                    <a:pt x="236959" y="2925"/>
                  </a:lnTo>
                  <a:lnTo>
                    <a:pt x="241667" y="4875"/>
                  </a:lnTo>
                  <a:lnTo>
                    <a:pt x="245823" y="7652"/>
                  </a:lnTo>
                  <a:lnTo>
                    <a:pt x="249427" y="11256"/>
                  </a:lnTo>
                  <a:lnTo>
                    <a:pt x="253031" y="14860"/>
                  </a:lnTo>
                  <a:lnTo>
                    <a:pt x="260683" y="38431"/>
                  </a:lnTo>
                  <a:lnTo>
                    <a:pt x="260683" y="222252"/>
                  </a:lnTo>
                  <a:lnTo>
                    <a:pt x="260683" y="227348"/>
                  </a:lnTo>
                  <a:lnTo>
                    <a:pt x="259708" y="232250"/>
                  </a:lnTo>
                  <a:lnTo>
                    <a:pt x="257758" y="236959"/>
                  </a:lnTo>
                  <a:lnTo>
                    <a:pt x="255808" y="241667"/>
                  </a:lnTo>
                  <a:lnTo>
                    <a:pt x="222252" y="260683"/>
                  </a:lnTo>
                  <a:lnTo>
                    <a:pt x="38431" y="260683"/>
                  </a:lnTo>
                  <a:lnTo>
                    <a:pt x="33335" y="260683"/>
                  </a:lnTo>
                  <a:lnTo>
                    <a:pt x="28432" y="259708"/>
                  </a:lnTo>
                  <a:lnTo>
                    <a:pt x="23724" y="257758"/>
                  </a:lnTo>
                  <a:lnTo>
                    <a:pt x="19016" y="255808"/>
                  </a:lnTo>
                  <a:lnTo>
                    <a:pt x="14860" y="253031"/>
                  </a:lnTo>
                  <a:lnTo>
                    <a:pt x="11256" y="249427"/>
                  </a:lnTo>
                  <a:lnTo>
                    <a:pt x="7652" y="245823"/>
                  </a:lnTo>
                  <a:lnTo>
                    <a:pt x="4875" y="241667"/>
                  </a:lnTo>
                  <a:lnTo>
                    <a:pt x="2925" y="236959"/>
                  </a:lnTo>
                  <a:lnTo>
                    <a:pt x="975" y="232250"/>
                  </a:lnTo>
                  <a:lnTo>
                    <a:pt x="0" y="227348"/>
                  </a:lnTo>
                  <a:lnTo>
                    <a:pt x="0" y="222252"/>
                  </a:lnTo>
                  <a:close/>
                </a:path>
              </a:pathLst>
            </a:custGeom>
            <a:ln w="7667">
              <a:solidFill>
                <a:srgbClr val="BDB8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535370" y="1678788"/>
            <a:ext cx="13017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 b="1">
                <a:solidFill>
                  <a:srgbClr val="292641"/>
                </a:solidFill>
                <a:latin typeface="Tahoma"/>
                <a:cs typeface="Tahoma"/>
              </a:rPr>
              <a:t>2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91392" y="1699532"/>
            <a:ext cx="3375660" cy="6451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solidFill>
                  <a:srgbClr val="292641"/>
                </a:solidFill>
                <a:latin typeface="Tahoma"/>
                <a:cs typeface="Tahoma"/>
              </a:rPr>
              <a:t>Days</a:t>
            </a:r>
            <a:r>
              <a:rPr dirty="0" sz="1150" spc="-10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150" spc="-150" b="1">
                <a:solidFill>
                  <a:srgbClr val="292641"/>
                </a:solidFill>
                <a:latin typeface="Tahoma"/>
                <a:cs typeface="Tahoma"/>
              </a:rPr>
              <a:t>31–</a:t>
            </a:r>
            <a:r>
              <a:rPr dirty="0" sz="1150" b="1">
                <a:solidFill>
                  <a:srgbClr val="292641"/>
                </a:solidFill>
                <a:latin typeface="Tahoma"/>
                <a:cs typeface="Tahoma"/>
              </a:rPr>
              <a:t>60</a:t>
            </a:r>
            <a:r>
              <a:rPr dirty="0" sz="1150" spc="-9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150" spc="-30" b="1">
                <a:solidFill>
                  <a:srgbClr val="292641"/>
                </a:solidFill>
                <a:latin typeface="Tahoma"/>
                <a:cs typeface="Tahoma"/>
              </a:rPr>
              <a:t>—</a:t>
            </a:r>
            <a:r>
              <a:rPr dirty="0" sz="1150" spc="-10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150" spc="-35" b="1">
                <a:solidFill>
                  <a:srgbClr val="292641"/>
                </a:solidFill>
                <a:latin typeface="Tahoma"/>
                <a:cs typeface="Tahoma"/>
              </a:rPr>
              <a:t>Design</a:t>
            </a:r>
            <a:r>
              <a:rPr dirty="0" sz="1150" spc="-9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150" spc="-10" b="1">
                <a:solidFill>
                  <a:srgbClr val="292641"/>
                </a:solidFill>
                <a:latin typeface="Tahoma"/>
                <a:cs typeface="Tahoma"/>
              </a:rPr>
              <a:t>Controls</a:t>
            </a:r>
            <a:endParaRPr sz="1150">
              <a:latin typeface="Tahoma"/>
              <a:cs typeface="Tahoma"/>
            </a:endParaRPr>
          </a:p>
          <a:p>
            <a:pPr marL="12700" marR="5080">
              <a:lnSpc>
                <a:spcPct val="132400"/>
              </a:lnSpc>
              <a:spcBef>
                <a:spcPts val="445"/>
              </a:spcBef>
            </a:pP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Approve tool catalog; complete vendor due diligence; </a:t>
            </a:r>
            <a:r>
              <a:rPr dirty="0" sz="950" spc="-10">
                <a:solidFill>
                  <a:srgbClr val="292641"/>
                </a:solidFill>
                <a:latin typeface="Arial MT"/>
                <a:cs typeface="Arial MT"/>
              </a:rPr>
              <a:t>establish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data</a:t>
            </a:r>
            <a:r>
              <a:rPr dirty="0" sz="950" spc="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rules;</a:t>
            </a:r>
            <a:r>
              <a:rPr dirty="0" sz="950" spc="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deploy</a:t>
            </a:r>
            <a:r>
              <a:rPr dirty="0" sz="950" spc="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92641"/>
                </a:solidFill>
                <a:latin typeface="Arial MT"/>
                <a:cs typeface="Arial MT"/>
              </a:rPr>
              <a:t>SSO/MFA/RBAC;</a:t>
            </a:r>
            <a:r>
              <a:rPr dirty="0" sz="950" spc="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select</a:t>
            </a:r>
            <a:r>
              <a:rPr dirty="0" sz="950" spc="10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92641"/>
                </a:solidFill>
                <a:latin typeface="Arial MT"/>
                <a:cs typeface="Arial MT"/>
              </a:rPr>
              <a:t>pilots.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15114" y="2299857"/>
            <a:ext cx="621665" cy="269240"/>
            <a:chOff x="4115114" y="2299857"/>
            <a:chExt cx="621665" cy="269240"/>
          </a:xfrm>
        </p:grpSpPr>
        <p:sp>
          <p:nvSpPr>
            <p:cNvPr id="17" name="object 17"/>
            <p:cNvSpPr/>
            <p:nvPr/>
          </p:nvSpPr>
          <p:spPr>
            <a:xfrm>
              <a:off x="4115114" y="2430493"/>
              <a:ext cx="368300" cy="15875"/>
            </a:xfrm>
            <a:custGeom>
              <a:avLst/>
              <a:gdLst/>
              <a:ahLst/>
              <a:cxnLst/>
              <a:rect l="l" t="t" r="r" b="b"/>
              <a:pathLst>
                <a:path w="368300" h="15875">
                  <a:moveTo>
                    <a:pt x="362474" y="15334"/>
                  </a:moveTo>
                  <a:lnTo>
                    <a:pt x="5549" y="15334"/>
                  </a:lnTo>
                  <a:lnTo>
                    <a:pt x="3742" y="14585"/>
                  </a:lnTo>
                  <a:lnTo>
                    <a:pt x="748" y="11591"/>
                  </a:lnTo>
                  <a:lnTo>
                    <a:pt x="0" y="9784"/>
                  </a:lnTo>
                  <a:lnTo>
                    <a:pt x="0" y="7667"/>
                  </a:lnTo>
                  <a:lnTo>
                    <a:pt x="0" y="5549"/>
                  </a:lnTo>
                  <a:lnTo>
                    <a:pt x="748" y="3742"/>
                  </a:lnTo>
                  <a:lnTo>
                    <a:pt x="3742" y="748"/>
                  </a:lnTo>
                  <a:lnTo>
                    <a:pt x="5549" y="0"/>
                  </a:lnTo>
                  <a:lnTo>
                    <a:pt x="362474" y="0"/>
                  </a:lnTo>
                  <a:lnTo>
                    <a:pt x="364281" y="748"/>
                  </a:lnTo>
                  <a:lnTo>
                    <a:pt x="367275" y="3742"/>
                  </a:lnTo>
                  <a:lnTo>
                    <a:pt x="368024" y="5549"/>
                  </a:lnTo>
                  <a:lnTo>
                    <a:pt x="368024" y="9784"/>
                  </a:lnTo>
                  <a:lnTo>
                    <a:pt x="367275" y="11591"/>
                  </a:lnTo>
                  <a:lnTo>
                    <a:pt x="364281" y="14585"/>
                  </a:lnTo>
                  <a:lnTo>
                    <a:pt x="362474" y="15334"/>
                  </a:lnTo>
                  <a:close/>
                </a:path>
              </a:pathLst>
            </a:custGeom>
            <a:solidFill>
              <a:srgbClr val="BDB8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471637" y="2303984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227348" y="260683"/>
                  </a:moveTo>
                  <a:lnTo>
                    <a:pt x="33335" y="260683"/>
                  </a:lnTo>
                  <a:lnTo>
                    <a:pt x="28432" y="259708"/>
                  </a:lnTo>
                  <a:lnTo>
                    <a:pt x="975" y="232250"/>
                  </a:lnTo>
                  <a:lnTo>
                    <a:pt x="0" y="227348"/>
                  </a:lnTo>
                  <a:lnTo>
                    <a:pt x="0" y="222252"/>
                  </a:lnTo>
                  <a:lnTo>
                    <a:pt x="0" y="33335"/>
                  </a:lnTo>
                  <a:lnTo>
                    <a:pt x="28432" y="975"/>
                  </a:lnTo>
                  <a:lnTo>
                    <a:pt x="33335" y="0"/>
                  </a:lnTo>
                  <a:lnTo>
                    <a:pt x="227348" y="0"/>
                  </a:lnTo>
                  <a:lnTo>
                    <a:pt x="259708" y="28432"/>
                  </a:lnTo>
                  <a:lnTo>
                    <a:pt x="260683" y="33335"/>
                  </a:lnTo>
                  <a:lnTo>
                    <a:pt x="260683" y="227348"/>
                  </a:lnTo>
                  <a:lnTo>
                    <a:pt x="232250" y="259708"/>
                  </a:lnTo>
                  <a:lnTo>
                    <a:pt x="227348" y="260683"/>
                  </a:lnTo>
                  <a:close/>
                </a:path>
              </a:pathLst>
            </a:custGeom>
            <a:solidFill>
              <a:srgbClr val="E8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471637" y="2303984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222252"/>
                  </a:moveTo>
                  <a:lnTo>
                    <a:pt x="0" y="38431"/>
                  </a:lnTo>
                  <a:lnTo>
                    <a:pt x="0" y="33335"/>
                  </a:lnTo>
                  <a:lnTo>
                    <a:pt x="975" y="28432"/>
                  </a:lnTo>
                  <a:lnTo>
                    <a:pt x="2925" y="23724"/>
                  </a:lnTo>
                  <a:lnTo>
                    <a:pt x="4875" y="19016"/>
                  </a:lnTo>
                  <a:lnTo>
                    <a:pt x="7652" y="14860"/>
                  </a:lnTo>
                  <a:lnTo>
                    <a:pt x="11256" y="11256"/>
                  </a:lnTo>
                  <a:lnTo>
                    <a:pt x="14860" y="7652"/>
                  </a:lnTo>
                  <a:lnTo>
                    <a:pt x="19016" y="4875"/>
                  </a:lnTo>
                  <a:lnTo>
                    <a:pt x="23724" y="2925"/>
                  </a:lnTo>
                  <a:lnTo>
                    <a:pt x="28432" y="975"/>
                  </a:lnTo>
                  <a:lnTo>
                    <a:pt x="33335" y="0"/>
                  </a:lnTo>
                  <a:lnTo>
                    <a:pt x="38431" y="0"/>
                  </a:lnTo>
                  <a:lnTo>
                    <a:pt x="222252" y="0"/>
                  </a:lnTo>
                  <a:lnTo>
                    <a:pt x="227348" y="0"/>
                  </a:lnTo>
                  <a:lnTo>
                    <a:pt x="232250" y="975"/>
                  </a:lnTo>
                  <a:lnTo>
                    <a:pt x="236959" y="2925"/>
                  </a:lnTo>
                  <a:lnTo>
                    <a:pt x="241667" y="4875"/>
                  </a:lnTo>
                  <a:lnTo>
                    <a:pt x="245823" y="7652"/>
                  </a:lnTo>
                  <a:lnTo>
                    <a:pt x="249427" y="11256"/>
                  </a:lnTo>
                  <a:lnTo>
                    <a:pt x="253031" y="14860"/>
                  </a:lnTo>
                  <a:lnTo>
                    <a:pt x="260683" y="38431"/>
                  </a:lnTo>
                  <a:lnTo>
                    <a:pt x="260683" y="222252"/>
                  </a:lnTo>
                  <a:lnTo>
                    <a:pt x="260683" y="227348"/>
                  </a:lnTo>
                  <a:lnTo>
                    <a:pt x="259708" y="232250"/>
                  </a:lnTo>
                  <a:lnTo>
                    <a:pt x="257758" y="236959"/>
                  </a:lnTo>
                  <a:lnTo>
                    <a:pt x="255808" y="241667"/>
                  </a:lnTo>
                  <a:lnTo>
                    <a:pt x="222252" y="260683"/>
                  </a:lnTo>
                  <a:lnTo>
                    <a:pt x="38431" y="260683"/>
                  </a:lnTo>
                  <a:lnTo>
                    <a:pt x="33335" y="260683"/>
                  </a:lnTo>
                  <a:lnTo>
                    <a:pt x="28432" y="259708"/>
                  </a:lnTo>
                  <a:lnTo>
                    <a:pt x="23724" y="257758"/>
                  </a:lnTo>
                  <a:lnTo>
                    <a:pt x="19016" y="255808"/>
                  </a:lnTo>
                  <a:lnTo>
                    <a:pt x="14860" y="253031"/>
                  </a:lnTo>
                  <a:lnTo>
                    <a:pt x="11256" y="249427"/>
                  </a:lnTo>
                  <a:lnTo>
                    <a:pt x="7652" y="245823"/>
                  </a:lnTo>
                  <a:lnTo>
                    <a:pt x="4875" y="241667"/>
                  </a:lnTo>
                  <a:lnTo>
                    <a:pt x="2925" y="236959"/>
                  </a:lnTo>
                  <a:lnTo>
                    <a:pt x="975" y="232250"/>
                  </a:lnTo>
                  <a:lnTo>
                    <a:pt x="0" y="227348"/>
                  </a:lnTo>
                  <a:lnTo>
                    <a:pt x="0" y="222252"/>
                  </a:lnTo>
                  <a:close/>
                </a:path>
              </a:pathLst>
            </a:custGeom>
            <a:ln w="7667">
              <a:solidFill>
                <a:srgbClr val="BDB8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536088" y="2307495"/>
            <a:ext cx="12890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 b="1">
                <a:solidFill>
                  <a:srgbClr val="292641"/>
                </a:solidFill>
                <a:latin typeface="Tahoma"/>
                <a:cs typeface="Tahoma"/>
              </a:rPr>
              <a:t>3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0174" y="2320573"/>
            <a:ext cx="3469004" cy="653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46505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solidFill>
                  <a:srgbClr val="292641"/>
                </a:solidFill>
                <a:latin typeface="Tahoma"/>
                <a:cs typeface="Tahoma"/>
              </a:rPr>
              <a:t>Days</a:t>
            </a:r>
            <a:r>
              <a:rPr dirty="0" sz="1150" spc="-10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150" spc="-145" b="1">
                <a:solidFill>
                  <a:srgbClr val="292641"/>
                </a:solidFill>
                <a:latin typeface="Tahoma"/>
                <a:cs typeface="Tahoma"/>
              </a:rPr>
              <a:t>61–</a:t>
            </a:r>
            <a:r>
              <a:rPr dirty="0" sz="1150" b="1">
                <a:solidFill>
                  <a:srgbClr val="292641"/>
                </a:solidFill>
                <a:latin typeface="Tahoma"/>
                <a:cs typeface="Tahoma"/>
              </a:rPr>
              <a:t>90</a:t>
            </a:r>
            <a:r>
              <a:rPr dirty="0" sz="1150" spc="-10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150" spc="-30" b="1">
                <a:solidFill>
                  <a:srgbClr val="292641"/>
                </a:solidFill>
                <a:latin typeface="Tahoma"/>
                <a:cs typeface="Tahoma"/>
              </a:rPr>
              <a:t>—</a:t>
            </a:r>
            <a:r>
              <a:rPr dirty="0" sz="1150" spc="-9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150" spc="-30" b="1">
                <a:solidFill>
                  <a:srgbClr val="292641"/>
                </a:solidFill>
                <a:latin typeface="Tahoma"/>
                <a:cs typeface="Tahoma"/>
              </a:rPr>
              <a:t>Deploy</a:t>
            </a:r>
            <a:r>
              <a:rPr dirty="0" sz="1150" spc="-10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150" spc="-80" b="1">
                <a:solidFill>
                  <a:srgbClr val="292641"/>
                </a:solidFill>
                <a:latin typeface="Tahoma"/>
                <a:cs typeface="Tahoma"/>
              </a:rPr>
              <a:t>&amp;</a:t>
            </a:r>
            <a:r>
              <a:rPr dirty="0" sz="1150" spc="-150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150" spc="-10" b="1">
                <a:solidFill>
                  <a:srgbClr val="292641"/>
                </a:solidFill>
                <a:latin typeface="Tahoma"/>
                <a:cs typeface="Tahoma"/>
              </a:rPr>
              <a:t>Monitor</a:t>
            </a:r>
            <a:endParaRPr sz="1150">
              <a:latin typeface="Tahoma"/>
              <a:cs typeface="Tahoma"/>
            </a:endParaRPr>
          </a:p>
          <a:p>
            <a:pPr marL="314325" marR="5080" indent="-302260">
              <a:lnSpc>
                <a:spcPct val="137700"/>
              </a:lnSpc>
              <a:spcBef>
                <a:spcPts val="385"/>
              </a:spcBef>
            </a:pP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Deliver</a:t>
            </a:r>
            <a:r>
              <a:rPr dirty="0" sz="9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training;</a:t>
            </a:r>
            <a:r>
              <a:rPr dirty="0" sz="9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publish</a:t>
            </a:r>
            <a:r>
              <a:rPr dirty="0" sz="950" spc="-5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AI</a:t>
            </a:r>
            <a:r>
              <a:rPr dirty="0" sz="9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registry;</a:t>
            </a:r>
            <a:r>
              <a:rPr dirty="0" sz="9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enable logging</a:t>
            </a:r>
            <a:r>
              <a:rPr dirty="0" sz="9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and</a:t>
            </a:r>
            <a:r>
              <a:rPr dirty="0" sz="9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DLP;</a:t>
            </a:r>
            <a:r>
              <a:rPr dirty="0" sz="9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292641"/>
                </a:solidFill>
                <a:latin typeface="Arial MT"/>
                <a:cs typeface="Arial MT"/>
              </a:rPr>
              <a:t>test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guardrails;</a:t>
            </a:r>
            <a:r>
              <a:rPr dirty="0" sz="9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establish</a:t>
            </a:r>
            <a:r>
              <a:rPr dirty="0" sz="9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incident playbook</a:t>
            </a:r>
            <a:r>
              <a:rPr dirty="0" sz="9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and KPI</a:t>
            </a:r>
            <a:r>
              <a:rPr dirty="0" sz="9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92641"/>
                </a:solidFill>
                <a:latin typeface="Arial MT"/>
                <a:cs typeface="Arial MT"/>
              </a:rPr>
              <a:t>dashboard.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464449" y="2921192"/>
            <a:ext cx="621665" cy="276225"/>
            <a:chOff x="4464449" y="2921192"/>
            <a:chExt cx="621665" cy="276225"/>
          </a:xfrm>
        </p:grpSpPr>
        <p:sp>
          <p:nvSpPr>
            <p:cNvPr id="23" name="object 23"/>
            <p:cNvSpPr/>
            <p:nvPr/>
          </p:nvSpPr>
          <p:spPr>
            <a:xfrm>
              <a:off x="4717466" y="3051534"/>
              <a:ext cx="368300" cy="15875"/>
            </a:xfrm>
            <a:custGeom>
              <a:avLst/>
              <a:gdLst/>
              <a:ahLst/>
              <a:cxnLst/>
              <a:rect l="l" t="t" r="r" b="b"/>
              <a:pathLst>
                <a:path w="368300" h="15875">
                  <a:moveTo>
                    <a:pt x="362474" y="15334"/>
                  </a:moveTo>
                  <a:lnTo>
                    <a:pt x="5549" y="15334"/>
                  </a:lnTo>
                  <a:lnTo>
                    <a:pt x="3742" y="14585"/>
                  </a:lnTo>
                  <a:lnTo>
                    <a:pt x="748" y="11591"/>
                  </a:lnTo>
                  <a:lnTo>
                    <a:pt x="0" y="9784"/>
                  </a:lnTo>
                  <a:lnTo>
                    <a:pt x="0" y="7667"/>
                  </a:lnTo>
                  <a:lnTo>
                    <a:pt x="0" y="5549"/>
                  </a:lnTo>
                  <a:lnTo>
                    <a:pt x="748" y="3742"/>
                  </a:lnTo>
                  <a:lnTo>
                    <a:pt x="3742" y="748"/>
                  </a:lnTo>
                  <a:lnTo>
                    <a:pt x="5549" y="0"/>
                  </a:lnTo>
                  <a:lnTo>
                    <a:pt x="362474" y="0"/>
                  </a:lnTo>
                  <a:lnTo>
                    <a:pt x="364281" y="748"/>
                  </a:lnTo>
                  <a:lnTo>
                    <a:pt x="367275" y="3742"/>
                  </a:lnTo>
                  <a:lnTo>
                    <a:pt x="368024" y="5549"/>
                  </a:lnTo>
                  <a:lnTo>
                    <a:pt x="368024" y="9784"/>
                  </a:lnTo>
                  <a:lnTo>
                    <a:pt x="367275" y="11591"/>
                  </a:lnTo>
                  <a:lnTo>
                    <a:pt x="364281" y="14585"/>
                  </a:lnTo>
                  <a:lnTo>
                    <a:pt x="362474" y="15334"/>
                  </a:lnTo>
                  <a:close/>
                </a:path>
              </a:pathLst>
            </a:custGeom>
            <a:solidFill>
              <a:srgbClr val="BDB8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468283" y="2925025"/>
              <a:ext cx="260985" cy="268605"/>
            </a:xfrm>
            <a:custGeom>
              <a:avLst/>
              <a:gdLst/>
              <a:ahLst/>
              <a:cxnLst/>
              <a:rect l="l" t="t" r="r" b="b"/>
              <a:pathLst>
                <a:path w="260985" h="268605">
                  <a:moveTo>
                    <a:pt x="227348" y="268350"/>
                  </a:moveTo>
                  <a:lnTo>
                    <a:pt x="33335" y="268350"/>
                  </a:lnTo>
                  <a:lnTo>
                    <a:pt x="28432" y="267375"/>
                  </a:lnTo>
                  <a:lnTo>
                    <a:pt x="975" y="239918"/>
                  </a:lnTo>
                  <a:lnTo>
                    <a:pt x="0" y="235015"/>
                  </a:lnTo>
                  <a:lnTo>
                    <a:pt x="0" y="229919"/>
                  </a:lnTo>
                  <a:lnTo>
                    <a:pt x="0" y="33335"/>
                  </a:lnTo>
                  <a:lnTo>
                    <a:pt x="28432" y="975"/>
                  </a:lnTo>
                  <a:lnTo>
                    <a:pt x="33335" y="0"/>
                  </a:lnTo>
                  <a:lnTo>
                    <a:pt x="227348" y="0"/>
                  </a:lnTo>
                  <a:lnTo>
                    <a:pt x="259708" y="28432"/>
                  </a:lnTo>
                  <a:lnTo>
                    <a:pt x="260683" y="33335"/>
                  </a:lnTo>
                  <a:lnTo>
                    <a:pt x="260683" y="235015"/>
                  </a:lnTo>
                  <a:lnTo>
                    <a:pt x="232250" y="267375"/>
                  </a:lnTo>
                  <a:lnTo>
                    <a:pt x="227348" y="268350"/>
                  </a:lnTo>
                  <a:close/>
                </a:path>
              </a:pathLst>
            </a:custGeom>
            <a:solidFill>
              <a:srgbClr val="E8E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468283" y="2925025"/>
              <a:ext cx="260985" cy="268605"/>
            </a:xfrm>
            <a:custGeom>
              <a:avLst/>
              <a:gdLst/>
              <a:ahLst/>
              <a:cxnLst/>
              <a:rect l="l" t="t" r="r" b="b"/>
              <a:pathLst>
                <a:path w="260985" h="268605">
                  <a:moveTo>
                    <a:pt x="0" y="229919"/>
                  </a:moveTo>
                  <a:lnTo>
                    <a:pt x="0" y="38431"/>
                  </a:lnTo>
                  <a:lnTo>
                    <a:pt x="0" y="33335"/>
                  </a:lnTo>
                  <a:lnTo>
                    <a:pt x="975" y="28432"/>
                  </a:lnTo>
                  <a:lnTo>
                    <a:pt x="2925" y="23724"/>
                  </a:lnTo>
                  <a:lnTo>
                    <a:pt x="4875" y="19016"/>
                  </a:lnTo>
                  <a:lnTo>
                    <a:pt x="7652" y="14860"/>
                  </a:lnTo>
                  <a:lnTo>
                    <a:pt x="11256" y="11256"/>
                  </a:lnTo>
                  <a:lnTo>
                    <a:pt x="14860" y="7652"/>
                  </a:lnTo>
                  <a:lnTo>
                    <a:pt x="19016" y="4875"/>
                  </a:lnTo>
                  <a:lnTo>
                    <a:pt x="23724" y="2925"/>
                  </a:lnTo>
                  <a:lnTo>
                    <a:pt x="28432" y="975"/>
                  </a:lnTo>
                  <a:lnTo>
                    <a:pt x="33335" y="0"/>
                  </a:lnTo>
                  <a:lnTo>
                    <a:pt x="38431" y="0"/>
                  </a:lnTo>
                  <a:lnTo>
                    <a:pt x="222252" y="0"/>
                  </a:lnTo>
                  <a:lnTo>
                    <a:pt x="227348" y="0"/>
                  </a:lnTo>
                  <a:lnTo>
                    <a:pt x="232250" y="975"/>
                  </a:lnTo>
                  <a:lnTo>
                    <a:pt x="236959" y="2925"/>
                  </a:lnTo>
                  <a:lnTo>
                    <a:pt x="241667" y="4875"/>
                  </a:lnTo>
                  <a:lnTo>
                    <a:pt x="245823" y="7652"/>
                  </a:lnTo>
                  <a:lnTo>
                    <a:pt x="249427" y="11256"/>
                  </a:lnTo>
                  <a:lnTo>
                    <a:pt x="253031" y="14860"/>
                  </a:lnTo>
                  <a:lnTo>
                    <a:pt x="260683" y="38431"/>
                  </a:lnTo>
                  <a:lnTo>
                    <a:pt x="260683" y="229919"/>
                  </a:lnTo>
                  <a:lnTo>
                    <a:pt x="260683" y="235015"/>
                  </a:lnTo>
                  <a:lnTo>
                    <a:pt x="259708" y="239918"/>
                  </a:lnTo>
                  <a:lnTo>
                    <a:pt x="257758" y="244626"/>
                  </a:lnTo>
                  <a:lnTo>
                    <a:pt x="255808" y="249334"/>
                  </a:lnTo>
                  <a:lnTo>
                    <a:pt x="222252" y="268350"/>
                  </a:lnTo>
                  <a:lnTo>
                    <a:pt x="38431" y="268350"/>
                  </a:lnTo>
                  <a:lnTo>
                    <a:pt x="11256" y="257094"/>
                  </a:lnTo>
                  <a:lnTo>
                    <a:pt x="7652" y="253490"/>
                  </a:lnTo>
                  <a:lnTo>
                    <a:pt x="4875" y="249334"/>
                  </a:lnTo>
                  <a:lnTo>
                    <a:pt x="2925" y="244626"/>
                  </a:lnTo>
                  <a:lnTo>
                    <a:pt x="975" y="239918"/>
                  </a:lnTo>
                  <a:lnTo>
                    <a:pt x="0" y="235015"/>
                  </a:lnTo>
                  <a:lnTo>
                    <a:pt x="0" y="229919"/>
                  </a:lnTo>
                  <a:close/>
                </a:path>
              </a:pathLst>
            </a:custGeom>
            <a:ln w="7667">
              <a:solidFill>
                <a:srgbClr val="BDB8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4532015" y="2928537"/>
            <a:ext cx="13652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25" b="1">
                <a:solidFill>
                  <a:srgbClr val="292641"/>
                </a:solidFill>
                <a:latin typeface="Tahoma"/>
                <a:cs typeface="Tahoma"/>
              </a:rPr>
              <a:t>fi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91392" y="2949281"/>
            <a:ext cx="3159760" cy="6451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0" b="1">
                <a:solidFill>
                  <a:srgbClr val="292641"/>
                </a:solidFill>
                <a:latin typeface="Tahoma"/>
                <a:cs typeface="Tahoma"/>
              </a:rPr>
              <a:t>Quarterly</a:t>
            </a:r>
            <a:r>
              <a:rPr dirty="0" sz="1150" spc="-8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150" spc="-30" b="1">
                <a:solidFill>
                  <a:srgbClr val="292641"/>
                </a:solidFill>
                <a:latin typeface="Tahoma"/>
                <a:cs typeface="Tahoma"/>
              </a:rPr>
              <a:t>—</a:t>
            </a:r>
            <a:r>
              <a:rPr dirty="0" sz="1150" spc="-8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150" spc="-65" b="1">
                <a:solidFill>
                  <a:srgbClr val="292641"/>
                </a:solidFill>
                <a:latin typeface="Tahoma"/>
                <a:cs typeface="Tahoma"/>
              </a:rPr>
              <a:t>Improve</a:t>
            </a:r>
            <a:r>
              <a:rPr dirty="0" sz="1150" spc="-85" b="1">
                <a:solidFill>
                  <a:srgbClr val="292641"/>
                </a:solidFill>
                <a:latin typeface="Tahoma"/>
                <a:cs typeface="Tahoma"/>
              </a:rPr>
              <a:t> </a:t>
            </a:r>
            <a:r>
              <a:rPr dirty="0" sz="1150" spc="-10" b="1">
                <a:solidFill>
                  <a:srgbClr val="292641"/>
                </a:solidFill>
                <a:latin typeface="Tahoma"/>
                <a:cs typeface="Tahoma"/>
              </a:rPr>
              <a:t>Continuously</a:t>
            </a:r>
            <a:endParaRPr sz="1150">
              <a:latin typeface="Tahoma"/>
              <a:cs typeface="Tahoma"/>
            </a:endParaRPr>
          </a:p>
          <a:p>
            <a:pPr marL="12700" marR="5080">
              <a:lnSpc>
                <a:spcPct val="132400"/>
              </a:lnSpc>
              <a:spcBef>
                <a:spcPts val="445"/>
              </a:spcBef>
            </a:pP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Reassess high-risk systems; review vendor changes; </a:t>
            </a:r>
            <a:r>
              <a:rPr dirty="0" sz="950" spc="-10">
                <a:solidFill>
                  <a:srgbClr val="292641"/>
                </a:solidFill>
                <a:latin typeface="Arial MT"/>
                <a:cs typeface="Arial MT"/>
              </a:rPr>
              <a:t>audit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access; refresh training; measure value and risk </a:t>
            </a:r>
            <a:r>
              <a:rPr dirty="0" sz="950" spc="-10">
                <a:solidFill>
                  <a:srgbClr val="292641"/>
                </a:solidFill>
                <a:latin typeface="Arial MT"/>
                <a:cs typeface="Arial MT"/>
              </a:rPr>
              <a:t>reduction.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6033" y="4569633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21709" y="38335"/>
                </a:moveTo>
                <a:lnTo>
                  <a:pt x="16626" y="38335"/>
                </a:lnTo>
                <a:lnTo>
                  <a:pt x="14181" y="37849"/>
                </a:lnTo>
                <a:lnTo>
                  <a:pt x="0" y="21709"/>
                </a:lnTo>
                <a:lnTo>
                  <a:pt x="0" y="16625"/>
                </a:lnTo>
                <a:lnTo>
                  <a:pt x="16626" y="0"/>
                </a:lnTo>
                <a:lnTo>
                  <a:pt x="21709" y="0"/>
                </a:lnTo>
                <a:lnTo>
                  <a:pt x="38335" y="19167"/>
                </a:lnTo>
                <a:lnTo>
                  <a:pt x="38335" y="21709"/>
                </a:lnTo>
                <a:lnTo>
                  <a:pt x="21709" y="38335"/>
                </a:lnTo>
                <a:close/>
              </a:path>
            </a:pathLst>
          </a:custGeom>
          <a:solidFill>
            <a:srgbClr val="2926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06033" y="4998995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21709" y="38335"/>
                </a:moveTo>
                <a:lnTo>
                  <a:pt x="16626" y="38335"/>
                </a:lnTo>
                <a:lnTo>
                  <a:pt x="14181" y="37848"/>
                </a:lnTo>
                <a:lnTo>
                  <a:pt x="0" y="21708"/>
                </a:lnTo>
                <a:lnTo>
                  <a:pt x="0" y="16625"/>
                </a:lnTo>
                <a:lnTo>
                  <a:pt x="16626" y="0"/>
                </a:lnTo>
                <a:lnTo>
                  <a:pt x="21709" y="0"/>
                </a:lnTo>
                <a:lnTo>
                  <a:pt x="38335" y="19167"/>
                </a:lnTo>
                <a:lnTo>
                  <a:pt x="38335" y="21708"/>
                </a:lnTo>
                <a:lnTo>
                  <a:pt x="21709" y="38335"/>
                </a:lnTo>
                <a:close/>
              </a:path>
            </a:pathLst>
          </a:custGeom>
          <a:solidFill>
            <a:srgbClr val="29264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483031" y="5436024"/>
            <a:ext cx="8234680" cy="675005"/>
            <a:chOff x="483031" y="5436024"/>
            <a:chExt cx="8234680" cy="675005"/>
          </a:xfrm>
        </p:grpSpPr>
        <p:sp>
          <p:nvSpPr>
            <p:cNvPr id="31" name="object 31"/>
            <p:cNvSpPr/>
            <p:nvPr/>
          </p:nvSpPr>
          <p:spPr>
            <a:xfrm>
              <a:off x="483031" y="5436024"/>
              <a:ext cx="8234680" cy="675005"/>
            </a:xfrm>
            <a:custGeom>
              <a:avLst/>
              <a:gdLst/>
              <a:ahLst/>
              <a:cxnLst/>
              <a:rect l="l" t="t" r="r" b="b"/>
              <a:pathLst>
                <a:path w="8234680" h="675004">
                  <a:moveTo>
                    <a:pt x="8195051" y="674710"/>
                  </a:moveTo>
                  <a:lnTo>
                    <a:pt x="39490" y="674710"/>
                  </a:lnTo>
                  <a:lnTo>
                    <a:pt x="36741" y="674439"/>
                  </a:lnTo>
                  <a:lnTo>
                    <a:pt x="4279" y="651183"/>
                  </a:lnTo>
                  <a:lnTo>
                    <a:pt x="0" y="635220"/>
                  </a:lnTo>
                  <a:lnTo>
                    <a:pt x="0" y="632445"/>
                  </a:lnTo>
                  <a:lnTo>
                    <a:pt x="0" y="39489"/>
                  </a:lnTo>
                  <a:lnTo>
                    <a:pt x="21091" y="5581"/>
                  </a:lnTo>
                  <a:lnTo>
                    <a:pt x="39490" y="0"/>
                  </a:lnTo>
                  <a:lnTo>
                    <a:pt x="8195051" y="0"/>
                  </a:lnTo>
                  <a:lnTo>
                    <a:pt x="8228959" y="21090"/>
                  </a:lnTo>
                  <a:lnTo>
                    <a:pt x="8234541" y="39489"/>
                  </a:lnTo>
                  <a:lnTo>
                    <a:pt x="8234541" y="635220"/>
                  </a:lnTo>
                  <a:lnTo>
                    <a:pt x="8213449" y="669129"/>
                  </a:lnTo>
                  <a:lnTo>
                    <a:pt x="8197800" y="674440"/>
                  </a:lnTo>
                  <a:lnTo>
                    <a:pt x="8195051" y="674710"/>
                  </a:lnTo>
                  <a:close/>
                </a:path>
              </a:pathLst>
            </a:custGeom>
            <a:solidFill>
              <a:srgbClr val="D6D1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348" y="5619916"/>
              <a:ext cx="105663" cy="105663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70331" y="4091690"/>
            <a:ext cx="8186420" cy="18643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25" b="1">
                <a:solidFill>
                  <a:srgbClr val="231870"/>
                </a:solidFill>
                <a:latin typeface="Tahoma"/>
                <a:cs typeface="Tahoma"/>
              </a:rPr>
              <a:t>Governance</a:t>
            </a:r>
            <a:r>
              <a:rPr dirty="0" sz="1150" spc="-90" b="1">
                <a:solidFill>
                  <a:srgbClr val="231870"/>
                </a:solidFill>
                <a:latin typeface="Tahoma"/>
                <a:cs typeface="Tahoma"/>
              </a:rPr>
              <a:t> </a:t>
            </a:r>
            <a:r>
              <a:rPr dirty="0" sz="1150" spc="-55" b="1">
                <a:solidFill>
                  <a:srgbClr val="231870"/>
                </a:solidFill>
                <a:latin typeface="Tahoma"/>
                <a:cs typeface="Tahoma"/>
              </a:rPr>
              <a:t>KPIs</a:t>
            </a:r>
            <a:r>
              <a:rPr dirty="0" sz="1150" spc="-90" b="1">
                <a:solidFill>
                  <a:srgbClr val="231870"/>
                </a:solidFill>
                <a:latin typeface="Tahoma"/>
                <a:cs typeface="Tahoma"/>
              </a:rPr>
              <a:t> </a:t>
            </a:r>
            <a:r>
              <a:rPr dirty="0" sz="1150" spc="-80" b="1">
                <a:solidFill>
                  <a:srgbClr val="231870"/>
                </a:solidFill>
                <a:latin typeface="Tahoma"/>
                <a:cs typeface="Tahoma"/>
              </a:rPr>
              <a:t>&amp;</a:t>
            </a:r>
            <a:r>
              <a:rPr dirty="0" sz="1150" spc="-145" b="1">
                <a:solidFill>
                  <a:srgbClr val="231870"/>
                </a:solidFill>
                <a:latin typeface="Tahoma"/>
                <a:cs typeface="Tahoma"/>
              </a:rPr>
              <a:t> </a:t>
            </a:r>
            <a:r>
              <a:rPr dirty="0" sz="1150" spc="-25" b="1">
                <a:solidFill>
                  <a:srgbClr val="231870"/>
                </a:solidFill>
                <a:latin typeface="Tahoma"/>
                <a:cs typeface="Tahoma"/>
              </a:rPr>
              <a:t>Quick</a:t>
            </a:r>
            <a:r>
              <a:rPr dirty="0" sz="1150" spc="-90" b="1">
                <a:solidFill>
                  <a:srgbClr val="231870"/>
                </a:solidFill>
                <a:latin typeface="Tahoma"/>
                <a:cs typeface="Tahoma"/>
              </a:rPr>
              <a:t> </a:t>
            </a:r>
            <a:r>
              <a:rPr dirty="0" sz="1150" spc="-10" b="1">
                <a:solidFill>
                  <a:srgbClr val="231870"/>
                </a:solidFill>
                <a:latin typeface="Tahoma"/>
                <a:cs typeface="Tahoma"/>
              </a:rPr>
              <a:t>Reference</a:t>
            </a:r>
            <a:endParaRPr sz="1150">
              <a:latin typeface="Tahoma"/>
              <a:cs typeface="Tahoma"/>
            </a:endParaRPr>
          </a:p>
          <a:p>
            <a:pPr marL="205740" marR="5715">
              <a:lnSpc>
                <a:spcPct val="132400"/>
              </a:lnSpc>
              <a:spcBef>
                <a:spcPts val="1350"/>
              </a:spcBef>
            </a:pP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KPIs:</a:t>
            </a:r>
            <a:r>
              <a:rPr dirty="0" sz="9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registration &amp;</a:t>
            </a:r>
            <a:r>
              <a:rPr dirty="0" sz="9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risk classification coverage,</a:t>
            </a:r>
            <a:r>
              <a:rPr dirty="0" sz="9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training completion, shadow-AI</a:t>
            </a:r>
            <a:r>
              <a:rPr dirty="0" sz="9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discoveries and remediation</a:t>
            </a:r>
            <a:r>
              <a:rPr dirty="0" sz="9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time, assessments</a:t>
            </a:r>
            <a:r>
              <a:rPr dirty="0" sz="9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for high-risk </a:t>
            </a:r>
            <a:r>
              <a:rPr dirty="0" sz="950" spc="-10">
                <a:solidFill>
                  <a:srgbClr val="292641"/>
                </a:solidFill>
                <a:latin typeface="Arial MT"/>
                <a:cs typeface="Arial MT"/>
              </a:rPr>
              <a:t>systems,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incident counts and containment time, measured business </a:t>
            </a:r>
            <a:r>
              <a:rPr dirty="0" sz="950" spc="-10">
                <a:solidFill>
                  <a:srgbClr val="292641"/>
                </a:solidFill>
                <a:latin typeface="Arial MT"/>
                <a:cs typeface="Arial MT"/>
              </a:rPr>
              <a:t>value.</a:t>
            </a:r>
            <a:endParaRPr sz="950">
              <a:latin typeface="Arial MT"/>
              <a:cs typeface="Arial MT"/>
            </a:endParaRPr>
          </a:p>
          <a:p>
            <a:pPr marL="205740" marR="5080">
              <a:lnSpc>
                <a:spcPct val="132400"/>
              </a:lnSpc>
              <a:spcBef>
                <a:spcPts val="360"/>
              </a:spcBef>
            </a:pP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Quick</a:t>
            </a:r>
            <a:r>
              <a:rPr dirty="0" sz="9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Rules: use only approved tools, check data classification, never enter restricted</a:t>
            </a:r>
            <a:r>
              <a:rPr dirty="0" sz="950" spc="-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data into unapproved systems, verify</a:t>
            </a:r>
            <a:r>
              <a:rPr dirty="0" sz="950" spc="-55">
                <a:solidFill>
                  <a:srgbClr val="29264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AI outputs, restrict </a:t>
            </a:r>
            <a:r>
              <a:rPr dirty="0" sz="950" spc="-10">
                <a:solidFill>
                  <a:srgbClr val="292641"/>
                </a:solidFill>
                <a:latin typeface="Arial MT"/>
                <a:cs typeface="Arial MT"/>
              </a:rPr>
              <a:t>agents </a:t>
            </a:r>
            <a:r>
              <a:rPr dirty="0" sz="950">
                <a:solidFill>
                  <a:srgbClr val="292641"/>
                </a:solidFill>
                <a:latin typeface="Arial MT"/>
                <a:cs typeface="Arial MT"/>
              </a:rPr>
              <a:t>from external commitments, report incidents </a:t>
            </a:r>
            <a:r>
              <a:rPr dirty="0" sz="950" spc="-10">
                <a:solidFill>
                  <a:srgbClr val="292641"/>
                </a:solidFill>
                <a:latin typeface="Arial MT"/>
                <a:cs typeface="Arial MT"/>
              </a:rPr>
              <a:t>immediately.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950">
              <a:latin typeface="Arial MT"/>
              <a:cs typeface="Arial MT"/>
            </a:endParaRPr>
          </a:p>
          <a:p>
            <a:pPr marL="405130" marR="248285">
              <a:lnSpc>
                <a:spcPct val="137700"/>
              </a:lnSpc>
              <a:spcBef>
                <a:spcPts val="5"/>
              </a:spcBef>
            </a:pPr>
            <a:r>
              <a:rPr dirty="0" sz="950">
                <a:latin typeface="Arial MT"/>
                <a:cs typeface="Arial MT"/>
              </a:rPr>
              <a:t>Begin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with visibility: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inventory tools and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use cases, then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establish approved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platforms, data rules,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owners, human oversight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and monitoring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-25">
                <a:latin typeface="Arial MT"/>
                <a:cs typeface="Arial MT"/>
              </a:rPr>
              <a:t>to </a:t>
            </a:r>
            <a:r>
              <a:rPr dirty="0" sz="950">
                <a:latin typeface="Arial MT"/>
                <a:cs typeface="Arial MT"/>
              </a:rPr>
              <a:t>unlock</a:t>
            </a:r>
            <a:r>
              <a:rPr dirty="0" sz="950" spc="-6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AI value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without compromising </a:t>
            </a:r>
            <a:r>
              <a:rPr dirty="0" sz="950" spc="-10">
                <a:latin typeface="Arial MT"/>
                <a:cs typeface="Arial MT"/>
              </a:rPr>
              <a:t>trust.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34" name="object 34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11640" y="6026396"/>
            <a:ext cx="1412292" cy="3373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2026-09-18T11:33:42Z</dcterms:created>
  <dcterms:modified xsi:type="dcterms:W3CDTF">2026-09-18T11:33:42Z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2026-09-18T00:00:00Z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2026-09-18T00:00:00Z</vt:filetime>
  </property>
  <property fmtid="{D5CDD505-2E9C-101B-9397-08002B2CF9AE}" pid="6" name="Producer">
    <vt:lpwstr>pdf-lib (https://github.com/Hopding/pdf-lib)</vt:lpwstr>
  </property>
</Properties>
</file>